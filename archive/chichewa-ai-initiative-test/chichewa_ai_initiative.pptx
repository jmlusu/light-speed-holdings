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CHICHEWA AI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Calibri"/>
              </a:defRPr>
            </a:pPr>
            <a:r>
              <a:t>Executive Presentation — Light Speed Holdings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65760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  <a:latin typeface="Calibri"/>
              </a:defRPr>
            </a:pPr>
            <a:r>
              <a:t>CONFIDENTIAL  •  Board &amp; CEO Only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Strategic Platform Partnership for Africa's First National Language Data 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THE OPPORTUNITY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228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8503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"Malawi has built the world's first National Language Data Trust for</a:t>
            </a:r>
            <a:br/>
            <a:r>
              <a:t>Chichewa (12M speakers). We can provide the agent orchestration platform</a:t>
            </a:r>
            <a:br/>
            <a:r>
              <a:t>that turns this data into scalable, multi-modal AI services for African</a:t>
            </a:r>
            <a:br/>
            <a:r>
              <a:t>agriculture — starting with 10,000 farmers in 9 months."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3200400" cy="20116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📊  DATA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7548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2F5"/>
                </a:solidFill>
                <a:latin typeface="Calibri"/>
              </a:defRPr>
            </a:pPr>
            <a:r>
              <a:t>7,000+ hrs Chichewa audio/text</a:t>
            </a:r>
            <a:br/>
            <a:r>
              <a:t>World Bank + Gates Foundation funded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3200400" cy="20116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🌍  MASSIVE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7548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2F5"/>
                </a:solidFill>
                <a:latin typeface="Calibri"/>
              </a:defRPr>
            </a:pPr>
            <a:r>
              <a:t>80% in agriculture; &lt;30% smartphone</a:t>
            </a:r>
            <a:br/>
            <a:r>
              <a:t>Voice-first AI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4114800"/>
            <a:ext cx="3200400" cy="20116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⚡  TECH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7548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2F5"/>
                </a:solidFill>
                <a:latin typeface="Calibri"/>
              </a:defRPr>
            </a:pPr>
            <a:r>
              <a:t>LLaMA-3 + Whisper + Piper + Our Platform</a:t>
            </a:r>
            <a:br/>
            <a:r>
              <a:t>Production-grade low-resource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Calibri"/>
              </a:defRPr>
            </a:pPr>
            <a:r>
              <a:t>First-mover advantage: No one has deployed multi-agent orchestration for African language AI at national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WHY NOW — CONVERGENCE OF THREE FORCES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  <a:gridCol w="2468880"/>
              </a:tblGrid>
              <a:tr h="8001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FORCE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WINDOW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SUPPLY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7,000+ hrs Chichewa audio/text (ZBS, Govt archives) — World Bank + Gates funded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DATA READY NOW</a:t>
                      </a:r>
                    </a:p>
                  </a:txBody>
                  <a:tcPr anchor="ctr"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DEMAND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80% of Malawi in agriculture; &lt;30% smartphone penetration; voice-first required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MASSIVE UNMET NEED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TECH READINESS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LLaMA-3 + Whisper + Piper + our Agent Platform = production-grade low-resource language 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WE CAN BUILD FIRST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🎯 FIRST-MOVER ADVANTAGE: No competitor has deployed multi-agent orchestration for African language AI at national scale.</a:t>
            </a:r>
            <a:br/>
            <a:r>
              <a:t>Our agent factory pattern (YAML → OpenCode agents + MessageBus) is uniquely positioned to operationalize this Data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STRATEGIC FIT — OUR PLATFORM MEETS THEIR NEED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2926080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INITIATIVE NEED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PLATFORM CAPABILITY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COMPETITIVE MOAT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UlangiziAI is monolithic → needs specialist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Agent Registry + Orchestration + MessageBus (YAML-defined, generated)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PLATFORM, NOT PROJECT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Voice + WhatsApp + IVR + USSD channels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Channel-agnostic adapters (single agent logic, multi-interface)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WRITE ONCE, DEPLOY EVERYWHERE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Scale Chichewa → Tumbuka, Yao, Sena, Lomwe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Agent Factory pattern (80% registry reuse)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REPLICABLE ACROSS 50+ BANTU LANGUAGES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Public developer access planned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Developer Portal + SDK + API (our core product)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OWN THE ECOSYSTEM LAYER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700"/>
                </a:solidFill>
                <a:latin typeface="Calibri"/>
              </a:defRPr>
            </a:pPr>
            <a:r>
              <a:t>Core Insight: We don't just build a chatbot — we provide the orchestration layer that makes ANY African language AI scalable.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THE ASK — "PLATFORM PARTNER"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103120" cy="3200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Technology/Platform Partner</a:t>
            </a:r>
            <a:br/>
            <a:r>
              <a:t>(not vendor, not grantee)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188720"/>
            <a:ext cx="2103120" cy="3200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645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$2.8M direct + $1.6M contingency</a:t>
            </a:r>
            <a:br/>
            <a:r>
              <a:t>= $4.4M over 12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188720"/>
            <a:ext cx="2103120" cy="3200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645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12.5 FTE</a:t>
            </a:r>
            <a:br/>
            <a:r>
              <a:t>(7 ML/Backend, 2 Voice, 1.5 DevOps, 1 Frontend, 1 PM)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188720"/>
            <a:ext cx="2103120" cy="3200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645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10,000 active farmers by Month 9</a:t>
            </a:r>
            <a:br/>
            <a:r>
              <a:t>MSA with Malawi Govt by Month 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188720"/>
            <a:ext cx="2103120" cy="3200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REVENUE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1645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Platform SaaS ($300k Y1)</a:t>
            </a:r>
            <a:br/>
            <a:r>
              <a:t>+ Prof Services ($400k) + Grants ($1M)</a:t>
            </a:r>
            <a:br/>
            <a:r>
              <a:t>= $1.85M Y1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3-PHASE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4747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1: FOUNDATION (M1-3)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474720" cy="347472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Data pipeline (1,000 hrs processed)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Tokenizer + Continued Pretraining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Agent Registry v1 (6 agents)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Dev Sandbox (API + SDK)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00"/>
                </a:solidFill>
                <a:latin typeface="Calibri"/>
              </a:defRPr>
            </a:pPr>
            <a:r>
              <a:t>🎯 GATE 1: OI MoU signed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5486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1115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2: INTEGRATION (M4-6)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645920"/>
            <a:ext cx="3474720" cy="347472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SFT Chichewa model (50k QA pairs)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240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 specialist agents + orchestrator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Whisper FT + Piper TTS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WhatsApp voice E2E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00"/>
                </a:solidFill>
                <a:latin typeface="Calibri"/>
              </a:defRPr>
            </a:pPr>
            <a:r>
              <a:t>🎯 GATE 2: Pilot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097280"/>
            <a:ext cx="3474720" cy="5486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115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3: SCALE (M7-12)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1645920"/>
            <a:ext cx="3474720" cy="347472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IVR production (1,000 calls/day)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240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RLHF from farmer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Dialect LoRAs (3 regions)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Public API GA +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00"/>
                </a:solidFill>
                <a:latin typeface="Calibri"/>
              </a:defRPr>
            </a:pPr>
            <a:r>
              <a:t>🎯 GATE 3: Scale decision + MSA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KEY PARTNERSHIPS — TIER 1 (MUST CLOSE DAYS 1-30)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  <a:gridCol w="2560320"/>
              </a:tblGrid>
              <a:tr h="1005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PARTNER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WE NEED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THEY GET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Opportunity International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Co-dev UlangiziAI v2; farmer access; ag knowledge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Multi-agent architecture; scale to new languages; platform ownership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JDA — Revenue share on premium; grant-funded core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Zodiak Broadcasting (ZBS)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7,000hr audio archive license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Revenue share; co-branded "ZBS AI" hotline; digital transformation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Data License + Co-Marketing — $50k/yr + 10% rev share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Malawi Ministry of Agriculture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National integration; extension officer network; Govt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2,000+ officers AI-enabled; policy insights; capacity building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MoU → MSA — $200-500k/yr + WB co-financing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World Bank (Digital Dev)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Technical partner designation; co-funding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Implementation capacity; innovation showcase; sustainability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Trust Fund / DGF — $1M target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MVP — ULANGIZIAI v2 (90-DAY PILOT)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700"/>
                </a:solidFill>
                <a:latin typeface="Calibri"/>
              </a:defRPr>
            </a:pPr>
            <a:r>
              <a:t>6 Specialist Agents + Orchestrator → WhatsApp (Text + Voice) → 50 Farmers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474720" cy="21031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🌤️ WEATHER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Forecasts, planting windows,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Source: MET Malawi + satellite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554480"/>
            <a:ext cx="3474720" cy="21031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💰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Commodity prices, buyer contacts,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Source: MACE + RATIN + farmer 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554480"/>
            <a:ext cx="3474720" cy="21031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🌱 CROPS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Varieties, calendars, intercropping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Source: Ministry of Ag + CGIAR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3474720" cy="21031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🐛 PESTS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ID, IPM, pesticide safety (regulated)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Source: CABI + Ministry bulletins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931920"/>
            <a:ext cx="3474720" cy="21031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🏦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434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Input loans, insurance, mobile 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Source: NBS Bank + Airtel Money + NGOs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931920"/>
            <a:ext cx="3474720" cy="21031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🎫 SUBSIDIES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4434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AIP eligibility, depot stock, redemption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5212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Source: Ministry + Logistics Unit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Calibri"/>
              </a:defRPr>
            </a:pPr>
            <a:r>
              <a:t>🔄 Human-in-loop: Extension officers review &lt;70% confidence responses • Farmer feedback → RLHF training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FINANCIAL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12-MONTH INVESTMENT: $4.43M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91440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Personnel (12.5 FTE)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$2.98M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67%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GPU Compute (Training + Inference)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$0.42M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Telecom (IVR, WhatsApp, SMS)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$0.06M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1%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Legal, Travel, Malawi Office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$0.24M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Contingency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$0.59M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13%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REVENUE PROJECTION (BASE CASE)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544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STREAM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Y1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Y2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Y3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Platform SaaS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$300k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$800k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$2.0M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Professional Services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$400k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$600k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$800k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API/Usage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$150k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$500k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$1.2M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Grants/Contracts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$1.0M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$500k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$200k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TOTAL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$1.85M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$2.4M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3A40"/>
                          </a:solidFill>
                          <a:latin typeface="Calibri"/>
                        </a:defRPr>
                      </a:pPr>
                      <a:r>
                        <a:t>$4.2M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📈 UNIT ECONOMICS AT SCALE (Y3):  $0.80/farmer/yr cost  •  3.0x LTV/CAC  •  78% gross margin  •  Break-even: 15,000 farmers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TOP 5 RISKS &amp; MITIGATIONS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704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Political/Policy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1704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E14"/>
                </a:solidFill>
                <a:latin typeface="Calibri"/>
              </a:defRPr>
            </a:pPr>
            <a:r>
              <a:t>Medium ×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704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Multi-stakeholder MoUs; WB backing; portable architecture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10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Access Delayed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105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E14"/>
                </a:solidFill>
                <a:latin typeface="Calibri"/>
              </a:defRPr>
            </a:pPr>
            <a:r>
              <a:t>Medium ×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8105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Synthetic data pipeline; Common Voice fallback; legal escalation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50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 Quality Insufficient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50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E14"/>
                </a:solidFill>
                <a:latin typeface="Calibri"/>
              </a:defRPr>
            </a:pPr>
            <a:r>
              <a:t>Medium ×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4505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Ensemble with English; human-in-loop; continuous eval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906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Compute Cost Overrun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090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E14"/>
                </a:solidFill>
                <a:latin typeface="Calibri"/>
              </a:defRPr>
            </a:pPr>
            <a:r>
              <a:t>High ×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0906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Reserved instances; model distillation; CPU fallback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307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Farmer Adoption &lt;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E14"/>
                </a:solidFill>
                <a:latin typeface="Calibri"/>
              </a:defRPr>
            </a:pPr>
            <a:r>
              <a:t>Medium ×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7307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Co-design with farmers; community liaisons; voice-first 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🛡️ RISK PHILOSOPHY: Speed to pilot (90 days) de-risks technical, adoption, and partner risks simultaneously.</a:t>
            </a:r>
            <a:br/>
            <a:r>
              <a:t>Portfolio approach: Multiple partners (OI, Govt, ZBS, Telcos) — no single point of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GOVERNANCE &amp; DECISION 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STEERING COMMITTEE (Monthly)     → Budget &gt;$100k, Strategic pivots, Partner MSAs</a:t>
            </a:r>
            <a:br/>
            <a:r>
              <a:t>  CEO (Chair) • CTO • COO • CLO • CSO • CFO • CoS</a:t>
            </a:r>
            <a:br/>
            <a:r>
              <a:t>           │</a:t>
            </a:r>
            <a:br/>
            <a:r>
              <a:t>PMO (Bi-weekly)                  → Sprint scope, Resources, Risk escalation</a:t>
            </a:r>
            <a:br/>
            <a:r>
              <a:t>  CoS • PM • Workstream Leads</a:t>
            </a:r>
            <a:br/>
            <a:r>
              <a:t>           │</a:t>
            </a:r>
            <a:br/>
            <a:r>
              <a:t>├── TECH (CTO)     ├── BUSINESS (BD)     ├── PRODUCT (CPO)</a:t>
            </a:r>
            <a:br/>
            <a:r>
              <a:t>├── LEGAL (CLO)    ├── RESEARCH (ML)     └── COMMS (CMO)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005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GATE REVIEWS (CEO/Board)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GATE 1 (Day 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2F5"/>
                </a:solidFill>
                <a:latin typeface="Calibri"/>
              </a:defRPr>
            </a:pPr>
            <a:r>
              <a:t>Trigger: OI MoU signed + ZBS 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Decision: Release budget + hiring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GATE 2 (Day 60)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2F5"/>
                </a:solidFill>
                <a:latin typeface="Calibri"/>
              </a:defRPr>
            </a:pPr>
            <a:r>
              <a:t>Trigger: Technical feasibility 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Decision: Phase 2 go-ahead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GATE 3 (Day 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2F5"/>
                </a:solidFill>
                <a:latin typeface="Calibri"/>
              </a:defRPr>
            </a:pPr>
            <a:r>
              <a:t>Trigger: Pilot results reviewed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Decision: Scale / Pivot / Pause + MSA negotiation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IMMEDIATE ACTIONS — THIS WEEK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704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CEO calls: OI CEO, ZBS Director, WB Task Team 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70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B700"/>
                </a:solidFill>
                <a:latin typeface="Calibri"/>
              </a:defRPr>
            </a:pPr>
            <a:r>
              <a:t>CEO/CoS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1704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190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Tiger Team formed + charter 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19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B700"/>
                </a:solidFill>
                <a:latin typeface="Calibri"/>
              </a:defRPr>
            </a:pPr>
            <a:r>
              <a:t>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719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677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Technical deep-dive with OI/Gooey.AI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67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B700"/>
                </a:solidFill>
                <a:latin typeface="Calibri"/>
              </a:defRPr>
            </a:pPr>
            <a:r>
              <a:t>CTO/Lead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2677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163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MoU templates drafted (OI, ZBS, Govt)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816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B700"/>
                </a:solidFill>
                <a:latin typeface="Calibri"/>
              </a:defRPr>
            </a:pPr>
            <a:r>
              <a:t>CLO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7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3649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Malawi visas + local counsel retained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364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B700"/>
                </a:solidFill>
                <a:latin typeface="Calibri"/>
              </a:defRPr>
            </a:pPr>
            <a:r>
              <a:t>COO/Ops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3649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10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9136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GPU quota reserved (A100/H100)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913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B700"/>
                </a:solidFill>
                <a:latin typeface="Calibri"/>
              </a:defRPr>
            </a:pPr>
            <a:r>
              <a:t>CTO/DevOps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913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10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4622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GATE 1 TARGET: Signed OI JDA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62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B700"/>
                </a:solidFill>
                <a:latin typeface="Calibri"/>
              </a:defRPr>
            </a:pPr>
            <a:r>
              <a:t>CEO/BD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462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THE VISION — BEYOND CHICHEWA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603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228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Chichewa → 10K farmers → Malawi national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011680"/>
            <a:ext cx="2560320" cy="228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+Tumbuka (2M) + Yao (2M) → 100K farmers → Regional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560320" cy="5486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2560320" cy="228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+Sena, Lomwe, Bemba, Shona → 1M farmers → Continental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560320" cy="5486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YEAR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011680"/>
            <a:ext cx="2560320" cy="228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19456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Agent Factory for 50+ African languages → $100M ARR potential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🚀 WE BECOME THE "AWS FOR AFRICAN LANGUAGE AI" — THE ORCHESTRATION LAYER EVERYONE BUILDS ON.</a:t>
            </a:r>
            <a:br/>
            <a:br/>
            <a:r>
              <a:t>Replicable agent factory + multi-modal deployment + developer ecosystem = defensible platform moat.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DECISION REQUESTED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0332720" cy="228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18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Approve $4.4M / 12-month investment for "The Chichewa AI Initiative" as a strategic</a:t>
            </a:r>
            <a:br/>
            <a:r>
              <a:t>Platform Partner engagement, authorizing Gate 1 execution (Week 1-4)</a:t>
            </a:r>
            <a:br/>
            <a:r>
              <a:t>with go/no-go at Day 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OPTIONS FOR BOARD VOTE: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89120"/>
            <a:ext cx="10332720" cy="4114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Calibri"/>
              </a:defRPr>
            </a:pPr>
            <a:r>
              <a:t>✅ APPROVE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4074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Full engagement per this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64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✏️ APPROVE WITH MODIFICATIONS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8646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Specify: budget, scope, timeline, partners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03520"/>
            <a:ext cx="10332720" cy="4114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🧪 PILOT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3218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$1.5M / 6 months to Gate 2 (technical validation 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779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E14"/>
                </a:solidFill>
                <a:latin typeface="Calibri"/>
              </a:defRPr>
            </a:pPr>
            <a:r>
              <a:t>⏸️ DEFER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779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Revisit in Q1 2027 with more market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217920"/>
            <a:ext cx="10332720" cy="411480"/>
          </a:xfrm>
          <a:prstGeom prst="rect">
            <a:avLst/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6236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3545"/>
                </a:solidFill>
                <a:latin typeface="Calibri"/>
              </a:defRPr>
            </a:pPr>
            <a:r>
              <a:t>❌ DECLINE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62362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2F5"/>
                </a:solidFill>
                <a:latin typeface="Calibri"/>
              </a:defRPr>
            </a:pPr>
            <a:r>
              <a:t>Not a strategic priority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926080"/>
            <a:ext cx="365760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2F5"/>
                </a:solidFill>
                <a:latin typeface="Calibri"/>
              </a:defRPr>
            </a:pPr>
            <a:r>
              <a:t>Questions?  •  Deep-dive materials available  •  Appendix: Full risk register, financial model,</a:t>
            </a:r>
            <a:br/>
            <a:r>
              <a:t>legal framework, competitive landscape,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Calibri"/>
              </a:defRPr>
            </a:pPr>
            <a:r>
              <a:t>Prepared by: Chief of Staff  |  August 2026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4D8"/>
                </a:solidFill>
                <a:latin typeface="Calibri"/>
              </a:defRPr>
            </a:pPr>
            <a:r>
              <a:t>Light Speed Holdings  •  AI Company Builder  •  lightspeed.ai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