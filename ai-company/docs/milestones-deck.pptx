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Company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Major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v0.3.0  |  1205 Tests  |  26 CLI Commands  |  53 Agent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9202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64008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8A745"/>
                </a:solidFill>
              </a:defRPr>
            </a:pPr>
            <a:r>
              <a:t>1205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Tests Passing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005840"/>
            <a:ext cx="19202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005840"/>
            <a:ext cx="64008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078992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3460"/>
                </a:solidFill>
              </a:defRPr>
            </a:pPr>
            <a: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15544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CLI Commands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05840"/>
            <a:ext cx="19202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005840"/>
            <a:ext cx="64008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078992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94560"/>
                </a:solidFill>
              </a:defRPr>
            </a:pPr>
            <a:r>
              <a:t>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544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Agent Roles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005840"/>
            <a:ext cx="19202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1005840"/>
            <a:ext cx="64008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078992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8A745"/>
                </a:solidFill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5544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Lint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28600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  <a:r>
              <a:t>Project Overview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Python CLI tool for creating and orchestrating AI agent hierarchies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- 3 sprints completed, 8 major milestones achieved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- 6 domain engines: Executor, Decision, Workflow, Memory, Graph, Dashboard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Production-ready with comprehensive testing (1205 tests) and documentation (30+ docs)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82880" cy="18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343A40"/>
                </a:solidFill>
              </a:defRPr>
            </a:pPr>
            <a: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231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C757D"/>
                </a:solidFill>
              </a:defRPr>
            </a:pPr>
            <a:r>
              <a:t>Pre-July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828800"/>
            <a:ext cx="182880" cy="18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343A40"/>
                </a:solidFill>
              </a:defRPr>
            </a:pPr>
            <a:r>
              <a:t>Sprint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C757D"/>
                </a:solidFill>
              </a:defRPr>
            </a:pPr>
            <a:r>
              <a:t>Jul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39" y="1828800"/>
            <a:ext cx="182880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79" y="21031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343A40"/>
                </a:solidFill>
              </a:defRPr>
            </a:pPr>
            <a:r>
              <a:t>Sprint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24231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C757D"/>
                </a:solidFill>
              </a:defRPr>
            </a:pPr>
            <a:r>
              <a:t>Jul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828800"/>
            <a:ext cx="182880" cy="18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59" y="21031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343A40"/>
                </a:solidFill>
              </a:defRPr>
            </a:pPr>
            <a:r>
              <a:t>Org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59" y="24231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C757D"/>
                </a:solidFill>
              </a:defRPr>
            </a:pPr>
            <a:r>
              <a:t>Jul 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828800"/>
            <a:ext cx="182880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1031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343A40"/>
                </a:solidFill>
              </a:defRPr>
            </a:pPr>
            <a:r>
              <a:t>Sprint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4231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C757D"/>
                </a:solidFill>
              </a:defRPr>
            </a:pPr>
            <a:r>
              <a:t>Jul 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28800"/>
            <a:ext cx="182880" cy="18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1031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343A40"/>
                </a:solidFill>
              </a:defRPr>
            </a:pPr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4231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C757D"/>
                </a:solidFill>
              </a:defRPr>
            </a:pPr>
            <a:r>
              <a:t>Jul 17+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59" y="1828800"/>
            <a:ext cx="182880" cy="18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7999" y="21031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343A40"/>
                </a:solidFill>
              </a:defRPr>
            </a:pPr>
            <a:r>
              <a:t>CLI (26 cmds)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24231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C757D"/>
                </a:solidFill>
              </a:defRPr>
            </a:pPr>
            <a:r>
              <a:t>Ongoing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828800"/>
            <a:ext cx="182880" cy="18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21031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343A40"/>
                </a:solidFill>
              </a:defRPr>
            </a:pPr>
            <a:r>
              <a:t>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4231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C757D"/>
                </a:solidFill>
              </a:defRPr>
            </a:pPr>
            <a:r>
              <a:t>Jul 17+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901952"/>
            <a:ext cx="8595360" cy="36576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  <a:r>
              <a:t>Sprint Velocity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Sprint 1: Code hardening + audit trail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Sprint 2: 13 items, 41 hrs -- 1093 tests passing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Sprint 3: 8 items, 22 hrs -- 1205 tests passing, v0.3.0 tagged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 1: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1">
                <a:solidFill>
                  <a:srgbClr val="6C757D"/>
                </a:solidFill>
              </a:defRPr>
            </a:pPr>
            <a:r>
              <a:t>Pre-July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Core Python package structure with Typer CLI framework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- 17+ Pydantic domain models (Company, Executive, Department, Agent, Task, etc.)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- 4-module registry system: loader, parser, resolver, validator (19 YAML configs)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- 12 Jinja2 templates for agent generation (base, executive, department, specialist, etc.)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Generator with template selection by agent type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Organization: 7 executive roles, 5 core departments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 2: Code Hardening &amp;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1">
                <a:solidFill>
                  <a:srgbClr val="6C757D"/>
                </a:solidFill>
              </a:defRPr>
            </a:pPr>
            <a:r>
              <a:t>Sprint 1 -- 2026-07-20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Audit trail system: AuditEvent, AuditWriter (JSONL append), AuditReader (query/filter)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Executor integration: tool calls, task lifecycle, HITL decisions logged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Code hardening across all modules (Track B)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Audit trail completion (Track C)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All Sprint 1 items verified 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 3: Core Engines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1">
                <a:solidFill>
                  <a:srgbClr val="6C757D"/>
                </a:solidFill>
              </a:defRPr>
            </a:pPr>
            <a:r>
              <a:t>Sprint 2 -- 2026-07-21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Executor pipeline: Inbox polling -&gt; AgentLoop (ReAct) -&gt; LLM -&gt; Tools -&gt; Audit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AgentLoop: Multi-turn LLM&lt;-&gt;tool, cost tracking, HITL gates, budget enforcement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DecisionEngine: Approval matrix, risk assessment, decision tree navigation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WorkflowEngine: 9 workflows, step tracking, SLA monitoring, task conversion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MemoryEngine: 6 types (episodic, semantic, procedural, relational, temporal, aggregate)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GraphEngine: 4 types (org_chart, decision, workflow, knowledge) with BFS pathfinding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Circuit Breaker, Cost Tracker (JSONL), Dead-Letter Queue, Postmortem system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- 13 items completed, 41 hrs effort, 1093 tests passing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 4: Organization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1">
                <a:solidFill>
                  <a:srgbClr val="6C757D"/>
                </a:solidFill>
              </a:defRPr>
            </a:pPr>
            <a:r>
              <a:t>2026-07-21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- 53 new roles added across all departments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Phase 1 (Immediate): VP Eng, Data Engineer, AI Safety Lead, Program Manager, etc.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Phase 2 (Weeks 1-8): Red Team, MLOps, Platform Eng, Product Marketing, etc.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Phase 3 (Weeks 9-16): Frontend/API Architect, Observability, Privacy Officer, etc.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Phase 4 (Weeks 17-24): Technical Writer, L&amp;D Lead, IR Lead, BI Engineer, etc.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Structural improvements: CTO span reduced 9+ -&gt; 1, Product dept (8 roles), Strategy dept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AI Safety hierarchy: AI Safety Lead -&gt; Red Team, Constitutional AI, Ethics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 5: Gap Closure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1">
                <a:solidFill>
                  <a:srgbClr val="6C757D"/>
                </a:solidFill>
              </a:defRPr>
            </a:pPr>
            <a:r>
              <a:t>Sprint 3 -- 2026-07-22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Org chart test rewrite: 832 lines -&gt; 56 tests, all passing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DataTransformer.registry_to_enhanced() frozen model bug fix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E2E pipeline test covering full executor workflow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WebSocket integration tests (30 tests) for real-time broadcasts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Governance CLI: 7 commands (report, audit-trail, risk-summary, retention, compliance, owners, policies)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Memory CLI enhancement: stats, search, recall commands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Dashboard API tests (9 tests) for CEO dashboard, KPIs, departments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- 8 items completed, 22 hrs effort, 1205 tests, v0.3.0 tagged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 6: Dashboard &amp;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1">
                <a:solidFill>
                  <a:srgbClr val="6C757D"/>
                </a:solidFill>
              </a:defRPr>
            </a:pPr>
            <a:r>
              <a:t>2026-07-17+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FastAPI REST API with CORS and API key authentication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WebSocket broadcast for real-time task/KPI/alert updates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- 7-department KPI system: Engineering, HR, Finance, Legal, Marketing, Sales, Customer Success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- 28 KPI definitions with automated collectors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Analytics engine: History tracking, trend analysis, alert rules, summary rollups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CEO Dashboard: company health, agent performance, cost tracking, task pipeline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Department dashboards with drill-down capability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 7: CLI &amp; 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1">
                <a:solidFill>
                  <a:srgbClr val="6C757D"/>
                </a:solidFill>
              </a:defRPr>
            </a:pPr>
            <a:r>
              <a:t>Ongoing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- 26 CLI commands registered across all modules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Commands: company, decision, graph, workflows, memory, agents, board, departments,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  executives, specialists, orchestrator, models, dashboard, executor, doctor,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  marketing, sales, customer-success, legal, hr, generate, status, sop, raci, governance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System diagnostics (doctor command): Python version, dependencies, agent files,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  inbox health, memory engine, disk space, cost tracker, LLM providers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Pre-commit hooks: ruff, mypy, bandit, trailing-whitespace, end-of-file-fixer, check-yaml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 8: Documentation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1">
                <a:solidFill>
                  <a:srgbClr val="6C757D"/>
                </a:solidFill>
              </a:defRPr>
            </a:pPr>
            <a:r>
              <a:t>2026-07-17+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- 30+ documentation files covering architecture, development, ECL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Architecture docs, developer guide, ECL (change lifecycle)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SOPs: Incident response, deployment, HR onboarding, budget approval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RACI matrices: Hiring, escalation, deployment workflows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Risk register: 14 items with mitigations and owners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Board governance charter, meeting cadence, voting rules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Model routing policy: Provider catalog, tiers, routing rules, cost control</a:t>
            </a:r>
          </a:p>
          <a:p>
            <a:pPr>
              <a:spcBef>
                <a:spcPts val="400"/>
              </a:spcBef>
              <a:defRPr sz="1300">
                <a:solidFill>
                  <a:srgbClr val="343A40"/>
                </a:solidFill>
              </a:defRPr>
            </a:pPr>
            <a:r>
              <a:t>  - Company constitution: Principles and decision order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Quality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6984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0698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0698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Pytest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27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1205 tests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5270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28A745"/>
                </a:solidFill>
              </a:defRPr>
            </a:pPr>
            <a:r>
              <a:t>GREEN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8424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Ruff (lint)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842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0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9842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28A745"/>
                </a:solidFill>
              </a:defRPr>
            </a:pPr>
            <a:r>
              <a:t>GREEN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4144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Mypy (type check)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4414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0 errors (164 files)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4414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28A745"/>
                </a:solidFill>
              </a:defRPr>
            </a:pPr>
            <a:r>
              <a:t>GREEN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9864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Bandit (security)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8986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No high-severity issues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8986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28A745"/>
                </a:solidFill>
              </a:defRPr>
            </a:pPr>
            <a:r>
              <a:t>GREEN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35584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3558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v0.3.0 tagged 2026-07-22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58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28A745"/>
                </a:solidFill>
              </a:defRPr>
            </a:pPr>
            <a:r>
              <a:t>RELEASED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49039"/>
            <a:ext cx="82296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1304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Pre-commit hooks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13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343A40"/>
                </a:solidFill>
              </a:defRPr>
            </a:pPr>
            <a:r>
              <a:t>6 hooks active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8130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0">
                <a:solidFill>
                  <a:srgbClr val="28A745"/>
                </a:solidFill>
              </a:defRPr>
            </a:pPr>
            <a:r>
              <a:t>ENABLED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3A40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cli/              26 Typer commands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executor/         Task execution pipeline (AgentLoop, HITL, DLQ)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llm/              Multi-provider LLM abstraction, circuit breaker, cost tracker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orchestrator/     Message bus, scheduler, escalation, approval, tier rules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models/           17+ Pydantic domain models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registry/         4-module config registry (loader/parser/resolver/validator)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builder/          BootstrapEngine -- full company generation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decision/         DecisionEngine -- approvals, risk, decision trees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workflow/         WorkflowEngine -- 9 workflows, SLA monitoring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memory/           MemoryEngine -- 6 memory types, persistence, executor integration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graph/            GraphEngine -- 4 graph types, BFS pathfinding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audit/            Audit trail -- events, writer, reader, executor integration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dashboard/        FastAPI REST API, WebSocket, KPI collectors (7 depts), analytics</a:t>
            </a:r>
          </a:p>
          <a:p>
            <a:pPr>
              <a:spcBef>
                <a:spcPts val="400"/>
              </a:spcBef>
              <a:defRPr sz="1100">
                <a:solidFill>
                  <a:srgbClr val="343A40"/>
                </a:solidFill>
              </a:defRPr>
            </a:pPr>
            <a:r>
              <a:t>  org_chart/        OrganizationChart -- O(1) lookup, pathfinding, subtree extraction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Remaining Work -- Sprint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i="0">
                <a:solidFill>
                  <a:srgbClr val="343A40"/>
                </a:solidFill>
              </a:defRPr>
            </a:pPr>
            <a:r>
              <a:t>Structured logging (GAP-018)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0515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 i="0">
                <a:solidFill>
                  <a:srgbClr val="E94560"/>
                </a:solidFill>
              </a:defRPr>
            </a:pPr>
            <a: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051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6C757D"/>
                </a:solidFill>
              </a:defRPr>
            </a:pPr>
            <a:r>
              <a:t>Correlation IDs, structured log 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8229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i="0">
                <a:solidFill>
                  <a:srgbClr val="343A40"/>
                </a:solidFill>
              </a:defRPr>
            </a:pPr>
            <a:r>
              <a:t>Scheduled cycle daemon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819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 i="0">
                <a:solidFill>
                  <a:srgbClr val="E94560"/>
                </a:solidFill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8191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6C757D"/>
                </a:solidFill>
              </a:defRPr>
            </a:pPr>
            <a:r>
              <a:t>Persistent scheduler for autonomous cycles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66543"/>
            <a:ext cx="8229600" cy="4754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12263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i="0">
                <a:solidFill>
                  <a:srgbClr val="343A40"/>
                </a:solidFill>
              </a:defRPr>
            </a:pPr>
            <a:r>
              <a:t>Agent spec validation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12263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 i="0">
                <a:solidFill>
                  <a:srgbClr val="FFC107"/>
                </a:solidFill>
              </a:defRPr>
            </a:pPr>
            <a: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12263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6C757D"/>
                </a:solidFill>
              </a:defRPr>
            </a:pPr>
            <a:r>
              <a:t>Validate agent specs against schema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96896"/>
            <a:ext cx="8229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42615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i="0">
                <a:solidFill>
                  <a:srgbClr val="343A40"/>
                </a:solidFill>
              </a:defRPr>
            </a:pPr>
            <a:r>
              <a:t>CLI type hints/docstrings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642615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 i="0">
                <a:solidFill>
                  <a:srgbClr val="FFC107"/>
                </a:solidFill>
              </a:defRPr>
            </a:pPr>
            <a: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642615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6C757D"/>
                </a:solidFill>
              </a:defRPr>
            </a:pPr>
            <a:r>
              <a:t>Full type coverage for all 26 commands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27248"/>
            <a:ext cx="8229600" cy="4754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7296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i="0">
                <a:solidFill>
                  <a:srgbClr val="343A40"/>
                </a:solidFill>
              </a:defRPr>
            </a:pPr>
            <a:r>
              <a:t>OAuth2/key rotation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17296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 i="0">
                <a:solidFill>
                  <a:srgbClr val="FFC107"/>
                </a:solidFill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17296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6C757D"/>
                </a:solidFill>
              </a:defRPr>
            </a:pPr>
            <a:r>
              <a:t>Secure credential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03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i="0">
                <a:solidFill>
                  <a:srgbClr val="343A40"/>
                </a:solidFill>
              </a:defRPr>
            </a:pPr>
            <a:r>
              <a:t>Memory encryption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703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 i="0">
                <a:solidFill>
                  <a:srgbClr val="FFC107"/>
                </a:solidFill>
              </a:defRPr>
            </a:pPr>
            <a: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03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6C757D"/>
                </a:solidFill>
              </a:defRPr>
            </a:pPr>
            <a:r>
              <a:t>At-rest encryption for memory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87952"/>
            <a:ext cx="8229600" cy="4754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336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i="0">
                <a:solidFill>
                  <a:srgbClr val="343A40"/>
                </a:solidFill>
              </a:defRPr>
            </a:pPr>
            <a:r>
              <a:t>Token counting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23367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 i="0">
                <a:solidFill>
                  <a:srgbClr val="6C757D"/>
                </a:solidFill>
              </a:defRPr>
            </a:pPr>
            <a: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2336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6C757D"/>
                </a:solidFill>
              </a:defRPr>
            </a:pPr>
            <a:r>
              <a:t>Real-time token usage tracking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1. Begin Sprint 4 with structured logging and daemon mode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2. Full integration test of executor pipeline with real LLM calls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3. Deploy to staging environment for end-to-end validation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4. Target v0.4.0 release after Sprint 4 completion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5. Plan Sprint 5 for external deployment and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AI Company Builder v0.3.0  |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