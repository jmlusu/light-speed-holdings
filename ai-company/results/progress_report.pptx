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7680960" cy="292608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69494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FFFFFF"/>
                </a:solidFill>
                <a:latin typeface="Georgia"/>
              </a:defRPr>
            </a:pPr>
            <a:r>
              <a:t>AI Company Builder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148840"/>
            <a:ext cx="2286000" cy="457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6949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00D4AA"/>
                </a:solidFill>
                <a:latin typeface="Georgia"/>
              </a:defRPr>
            </a:pPr>
            <a:r>
              <a:t>Progress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017520"/>
            <a:ext cx="6949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7A8FA8"/>
                </a:solidFill>
                <a:latin typeface="Calibri"/>
              </a:defRPr>
            </a:pPr>
            <a:r>
              <a:t>Sprints 3-4 &amp; Phase 3C Complete  |  July 21,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Georgia"/>
              </a:defRPr>
            </a:pPr>
            <a:r>
              <a:t>Executive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85800"/>
            <a:ext cx="164592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536192" cy="100584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170432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00D4AA"/>
                </a:solidFill>
                <a:latin typeface="Georgia"/>
              </a:defRPr>
            </a:pPr>
            <a:r>
              <a:t>4/4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170432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A8FA8"/>
                </a:solidFill>
                <a:latin typeface="Calibri"/>
              </a:defRPr>
            </a:pPr>
            <a:r>
              <a:t>Architecture</a:t>
            </a:r>
            <a:br/>
            <a:r>
              <a:t>Gaps Closed</a:t>
            </a:r>
          </a:p>
        </p:txBody>
      </p:sp>
      <p:sp>
        <p:nvSpPr>
          <p:cNvPr id="8" name="Rectangle 7"/>
          <p:cNvSpPr/>
          <p:nvPr/>
        </p:nvSpPr>
        <p:spPr>
          <a:xfrm>
            <a:off x="2130552" y="1051560"/>
            <a:ext cx="1536192" cy="100584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13432" y="1188720"/>
            <a:ext cx="1170432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00D4AA"/>
                </a:solidFill>
                <a:latin typeface="Georgia"/>
              </a:defRPr>
            </a:pPr>
            <a: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13432" y="1691640"/>
            <a:ext cx="1170432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A8FA8"/>
                </a:solidFill>
                <a:latin typeface="Calibri"/>
              </a:defRPr>
            </a:pPr>
            <a:r>
              <a:t>New QA</a:t>
            </a:r>
            <a:br/>
            <a:r>
              <a:t>Tests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03904" y="1051560"/>
            <a:ext cx="1536192" cy="100584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86784" y="1188720"/>
            <a:ext cx="1170432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00D4AA"/>
                </a:solidFill>
                <a:latin typeface="Georgia"/>
              </a:defRPr>
            </a:pPr>
            <a:r>
              <a:t>962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86784" y="1691640"/>
            <a:ext cx="1170432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A8FA8"/>
                </a:solidFill>
                <a:latin typeface="Calibri"/>
              </a:defRPr>
            </a:pPr>
            <a:r>
              <a:t>Tests</a:t>
            </a:r>
            <a:br/>
            <a:r>
              <a:t>Passing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77256" y="1051560"/>
            <a:ext cx="1536192" cy="100584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0136" y="1188720"/>
            <a:ext cx="1170432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00D4AA"/>
                </a:solidFill>
                <a:latin typeface="Georgia"/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0136" y="1691640"/>
            <a:ext cx="1170432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A8FA8"/>
                </a:solidFill>
                <a:latin typeface="Calibri"/>
              </a:defRPr>
            </a:pPr>
            <a:r>
              <a:t>Mypy</a:t>
            </a:r>
            <a:br/>
            <a:r>
              <a:t>Errors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50608" y="1051560"/>
            <a:ext cx="1536192" cy="100584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33488" y="1188720"/>
            <a:ext cx="1170432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00D4AA"/>
                </a:solidFill>
                <a:latin typeface="Georgia"/>
              </a:defRPr>
            </a:pPr>
            <a:r>
              <a:t>120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33488" y="1691640"/>
            <a:ext cx="1170432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A8FA8"/>
                </a:solidFill>
                <a:latin typeface="Calibri"/>
              </a:defRPr>
            </a:pPr>
            <a:r>
              <a:t>Agents</a:t>
            </a:r>
            <a:br/>
            <a:r>
              <a:t>Frozen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2286000"/>
            <a:ext cx="8046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200">
                <a:solidFill>
                  <a:srgbClr val="00D4AA"/>
                </a:solidFill>
                <a:latin typeface="Calibri"/>
              </a:rPr>
              <a:t>●  </a:t>
            </a:r>
            <a:r>
              <a:rPr sz="1300">
                <a:solidFill>
                  <a:srgbClr val="B8C9E0"/>
                </a:solidFill>
                <a:latin typeface="Calibri"/>
              </a:rPr>
              <a:t>All critical architecture gaps (GAP-005, 014, 015, 020) closed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200">
                <a:solidFill>
                  <a:srgbClr val="00D4AA"/>
                </a:solidFill>
                <a:latin typeface="Calibri"/>
              </a:rPr>
              <a:t>●  </a:t>
            </a:r>
            <a:r>
              <a:rPr sz="1300">
                <a:solidFill>
                  <a:srgbClr val="B8C9E0"/>
                </a:solidFill>
                <a:latin typeface="Calibri"/>
              </a:rPr>
              <a:t>30 new QA tests across approval escalation, scheduler, and LLM retry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200">
                <a:solidFill>
                  <a:srgbClr val="00D4AA"/>
                </a:solidFill>
                <a:latin typeface="Calibri"/>
              </a:rPr>
              <a:t>●  </a:t>
            </a:r>
            <a:r>
              <a:rPr sz="1300">
                <a:solidFill>
                  <a:srgbClr val="B8C9E0"/>
                </a:solidFill>
                <a:latin typeface="Calibri"/>
              </a:rPr>
              <a:t>Semantic search fixed — VectorStore now properly initialized with EmbeddingEngine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200">
                <a:solidFill>
                  <a:srgbClr val="00D4AA"/>
                </a:solidFill>
                <a:latin typeface="Calibri"/>
              </a:rPr>
              <a:t>●  </a:t>
            </a:r>
            <a:r>
              <a:rPr sz="1300">
                <a:solidFill>
                  <a:srgbClr val="B8C9E0"/>
                </a:solidFill>
                <a:latin typeface="Calibri"/>
              </a:rPr>
              <a:t>Codebase healthy: 962 tests passing, 0 mypy errors, 0 ruff violations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200">
                <a:solidFill>
                  <a:srgbClr val="00D4AA"/>
                </a:solidFill>
                <a:latin typeface="Calibri"/>
              </a:rPr>
              <a:t>●  </a:t>
            </a:r>
            <a:r>
              <a:rPr sz="1300">
                <a:solidFill>
                  <a:srgbClr val="B8C9E0"/>
                </a:solidFill>
                <a:latin typeface="Calibri"/>
              </a:rPr>
              <a:t>120-agent registry frozen per CEO directive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Georgia"/>
              </a:defRPr>
            </a:pPr>
            <a:r>
              <a:t>Architecture Fixes (GAPs)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85800"/>
            <a:ext cx="18288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3931920" cy="164592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54864" cy="16459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14300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D4AA"/>
                </a:solidFill>
                <a:latin typeface="Consolas"/>
              </a:defRPr>
            </a:pPr>
            <a:r>
              <a:t>GAP-005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3474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Memory Consolidation Wired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83080"/>
            <a:ext cx="347472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A8FA8"/>
                </a:solidFill>
                <a:latin typeface="Calibri"/>
              </a:defRPr>
            </a:pPr>
            <a:r>
              <a:t>ConsolidationScheduler with tick + time triggers integrated into executor loop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005840"/>
            <a:ext cx="3931920" cy="164592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63440" y="1005840"/>
            <a:ext cx="54864" cy="16459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92040" y="114300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D4AA"/>
                </a:solidFill>
                <a:latin typeface="Consolas"/>
              </a:defRPr>
            </a:pPr>
            <a:r>
              <a:t>GAP-014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1417320"/>
            <a:ext cx="3474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BriefingGenerator DI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1783080"/>
            <a:ext cx="347472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A8FA8"/>
                </a:solidFill>
                <a:latin typeface="Calibri"/>
              </a:defRPr>
            </a:pPr>
            <a:r>
              <a:t>BriefingGenerator now accepts dependency-injected MessageBus for testability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80360"/>
            <a:ext cx="3931920" cy="164592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880360"/>
            <a:ext cx="54864" cy="16459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01752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D4AA"/>
                </a:solidFill>
                <a:latin typeface="Consolas"/>
              </a:defRPr>
            </a:pPr>
            <a:r>
              <a:t>GAP-015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291840"/>
            <a:ext cx="3474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LLM Retry Cycling Fixed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657600"/>
            <a:ext cx="347472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A8FA8"/>
                </a:solidFill>
                <a:latin typeface="Calibri"/>
              </a:defRPr>
            </a:pPr>
            <a:r>
              <a:t>Flattened stream loop with provider rotation prevents infinite retry storms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63440" y="2880360"/>
            <a:ext cx="3931920" cy="164592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63440" y="2880360"/>
            <a:ext cx="54864" cy="16459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92040" y="301752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D4AA"/>
                </a:solidFill>
                <a:latin typeface="Consolas"/>
              </a:defRPr>
            </a:pPr>
            <a:r>
              <a:t>GAP-020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92040" y="3291840"/>
            <a:ext cx="3474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E2E Pipeline Tests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3657600"/>
            <a:ext cx="347472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A8FA8"/>
                </a:solidFill>
                <a:latin typeface="Calibri"/>
              </a:defRPr>
            </a:pPr>
            <a:r>
              <a:t>10 comprehensive end-to-end tests covering the full agent lifecycle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Georgia"/>
              </a:defRPr>
            </a:pPr>
            <a:r>
              <a:t>Phase 3A — Frontend /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85800"/>
            <a:ext cx="22860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</a:pPr>
            <a:r>
              <a:rPr sz="1300">
                <a:solidFill>
                  <a:srgbClr val="00D4AA"/>
                </a:solidFill>
                <a:latin typeface="Calibri"/>
              </a:rPr>
              <a:t>●  </a:t>
            </a:r>
            <a:r>
              <a:rPr sz="1400">
                <a:solidFill>
                  <a:srgbClr val="B8C9E0"/>
                </a:solidFill>
                <a:latin typeface="Calibri"/>
              </a:rPr>
              <a:t>OpenAPI / Swagger confirmed at /docs endpoint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sz="1300">
                <a:solidFill>
                  <a:srgbClr val="00D4AA"/>
                </a:solidFill>
                <a:latin typeface="Calibri"/>
              </a:rPr>
              <a:t>●  </a:t>
            </a:r>
            <a:r>
              <a:rPr sz="1400">
                <a:solidFill>
                  <a:srgbClr val="B8C9E0"/>
                </a:solidFill>
                <a:latin typeface="Calibri"/>
              </a:rPr>
              <a:t>WebSocket broadcast wired for real-time task updates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sz="1300">
                <a:solidFill>
                  <a:srgbClr val="00D4AA"/>
                </a:solidFill>
                <a:latin typeface="Calibri"/>
              </a:rPr>
              <a:t>●  </a:t>
            </a:r>
            <a:r>
              <a:rPr sz="1400">
                <a:solidFill>
                  <a:srgbClr val="B8C9E0"/>
                </a:solidFill>
                <a:latin typeface="Calibri"/>
              </a:rPr>
              <a:t>Rate limit headers added (X-RateLimit-Limit, X-RateLimit-Remaining)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sz="1300">
                <a:solidFill>
                  <a:srgbClr val="00D4AA"/>
                </a:solidFill>
                <a:latin typeface="Calibri"/>
              </a:rPr>
              <a:t>●  </a:t>
            </a:r>
            <a:r>
              <a:rPr sz="1400">
                <a:solidFill>
                  <a:srgbClr val="B8C9E0"/>
                </a:solidFill>
                <a:latin typeface="Calibri"/>
              </a:rPr>
              <a:t>Dashboard fully operational with API key auth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sz="1300">
                <a:solidFill>
                  <a:srgbClr val="00D4AA"/>
                </a:solidFill>
                <a:latin typeface="Calibri"/>
              </a:rPr>
              <a:t>●  </a:t>
            </a:r>
            <a:r>
              <a:rPr sz="1400">
                <a:solidFill>
                  <a:srgbClr val="B8C9E0"/>
                </a:solidFill>
                <a:latin typeface="Calibri"/>
              </a:rPr>
              <a:t>CORS configuration for cross-origin access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0" y="1097280"/>
            <a:ext cx="3200400" cy="329184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0" y="1097280"/>
            <a:ext cx="3200400" cy="457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0" y="1280160"/>
            <a:ext cx="2651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D4AA"/>
                </a:solidFill>
                <a:latin typeface="Consolas"/>
              </a:defRPr>
            </a:pPr>
            <a:r>
              <a:t>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1737360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8C9E0"/>
                </a:solidFill>
                <a:latin typeface="Calibri"/>
              </a:defRPr>
            </a:pPr>
            <a:r>
              <a:t>OpenAPI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0" y="173736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D4AA"/>
                </a:solidFill>
                <a:latin typeface="Consolas"/>
              </a:defRPr>
            </a:pPr>
            <a:r>
              <a:t>READY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2240280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8C9E0"/>
                </a:solidFill>
                <a:latin typeface="Calibri"/>
              </a:defRPr>
            </a:pPr>
            <a:r>
              <a:t>WebSocket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0" y="224028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7A8FA8"/>
                </a:solidFill>
                <a:latin typeface="Consolas"/>
              </a:defRPr>
            </a:pPr>
            <a:r>
              <a:t>WIRED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2743200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8C9E0"/>
                </a:solidFill>
                <a:latin typeface="Calibri"/>
              </a:defRPr>
            </a:pPr>
            <a:r>
              <a:t>Rate Limits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0" y="274320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D4AA"/>
                </a:solidFill>
                <a:latin typeface="Consolas"/>
              </a:defRPr>
            </a:pPr>
            <a:r>
              <a:t>ACTIVE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3246120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8C9E0"/>
                </a:solidFill>
                <a:latin typeface="Calibri"/>
              </a:defRPr>
            </a:pPr>
            <a:r>
              <a:t>Auth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0" y="324612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D4AA"/>
                </a:solidFill>
                <a:latin typeface="Consolas"/>
              </a:defRPr>
            </a:pPr>
            <a:r>
              <a:t>ENABLED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3749040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8C9E0"/>
                </a:solidFill>
                <a:latin typeface="Calibri"/>
              </a:defRPr>
            </a:pPr>
            <a:r>
              <a:t>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0" y="374904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D4AA"/>
                </a:solidFill>
                <a:latin typeface="Consolas"/>
              </a:defRPr>
            </a:pPr>
            <a:r>
              <a:t>OPERATIONAL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Georgia"/>
              </a:defRPr>
            </a:pPr>
            <a:r>
              <a:t>Phase 3B — ML / Memory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85800"/>
            <a:ext cx="18288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3931920" cy="347472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3931920" cy="457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18872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6B6B"/>
                </a:solidFill>
                <a:latin typeface="Calibri"/>
              </a:defRPr>
            </a:pPr>
            <a:r>
              <a:t>BEFORE (Broken)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100">
                <a:solidFill>
                  <a:srgbClr val="FF6B6B"/>
                </a:solidFill>
                <a:latin typeface="Calibri"/>
              </a:rPr>
              <a:t>●  </a:t>
            </a:r>
            <a:r>
              <a:rPr sz="1200">
                <a:solidFill>
                  <a:srgbClr val="7A8FA8"/>
                </a:solidFill>
                <a:latin typeface="Calibri"/>
              </a:rPr>
              <a:t>init_memory() created VectorStore without EmbeddingEngine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100">
                <a:solidFill>
                  <a:srgbClr val="FF6B6B"/>
                </a:solidFill>
                <a:latin typeface="Calibri"/>
              </a:rPr>
              <a:t>●  </a:t>
            </a:r>
            <a:r>
              <a:rPr sz="1200">
                <a:solidFill>
                  <a:srgbClr val="7A8FA8"/>
                </a:solidFill>
                <a:latin typeface="Calibri"/>
              </a:rPr>
              <a:t>Semantic search was dead code — substring fallback only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100">
                <a:solidFill>
                  <a:srgbClr val="FF6B6B"/>
                </a:solidFill>
                <a:latin typeface="Calibri"/>
              </a:rPr>
              <a:t>●  </a:t>
            </a:r>
            <a:r>
              <a:rPr sz="1200">
                <a:solidFill>
                  <a:srgbClr val="7A8FA8"/>
                </a:solidFill>
                <a:latin typeface="Calibri"/>
              </a:rPr>
              <a:t>No embedding model loaded, no vector index built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100">
                <a:solidFill>
                  <a:srgbClr val="FF6B6B"/>
                </a:solidFill>
                <a:latin typeface="Calibri"/>
              </a:rPr>
              <a:t>●  </a:t>
            </a:r>
            <a:r>
              <a:rPr sz="1200">
                <a:solidFill>
                  <a:srgbClr val="7A8FA8"/>
                </a:solidFill>
                <a:latin typeface="Calibri"/>
              </a:rPr>
              <a:t>Memory consolidation not wired into executor loop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1051560"/>
            <a:ext cx="3931920" cy="347472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0" y="1051560"/>
            <a:ext cx="3931920" cy="457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83480" y="118872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D4AA"/>
                </a:solidFill>
                <a:latin typeface="Calibri"/>
              </a:defRPr>
            </a:pPr>
            <a:r>
              <a:t>AFTER (Fixed)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3480" y="155448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100">
                <a:solidFill>
                  <a:srgbClr val="00D4AA"/>
                </a:solidFill>
                <a:latin typeface="Calibri"/>
              </a:rPr>
              <a:t>●  </a:t>
            </a:r>
            <a:r>
              <a:rPr sz="1200">
                <a:solidFill>
                  <a:srgbClr val="B8C9E0"/>
                </a:solidFill>
                <a:latin typeface="Calibri"/>
              </a:rPr>
              <a:t>EmbeddingEngine(all-MiniLM-L6-v2) properly initialized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100">
                <a:solidFill>
                  <a:srgbClr val="00D4AA"/>
                </a:solidFill>
                <a:latin typeface="Calibri"/>
              </a:rPr>
              <a:t>●  </a:t>
            </a:r>
            <a:r>
              <a:rPr sz="1200">
                <a:solidFill>
                  <a:srgbClr val="B8C9E0"/>
                </a:solidFill>
                <a:latin typeface="Calibri"/>
              </a:rPr>
              <a:t>Full vector index with index_all() for semantic search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100">
                <a:solidFill>
                  <a:srgbClr val="00D4AA"/>
                </a:solidFill>
                <a:latin typeface="Calibri"/>
              </a:rPr>
              <a:t>●  </a:t>
            </a:r>
            <a:r>
              <a:rPr sz="1200">
                <a:solidFill>
                  <a:srgbClr val="B8C9E0"/>
                </a:solidFill>
                <a:latin typeface="Calibri"/>
              </a:rPr>
              <a:t>Memory consolidation integrated into executor tick loop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100">
                <a:solidFill>
                  <a:srgbClr val="00D4AA"/>
                </a:solidFill>
                <a:latin typeface="Calibri"/>
              </a:rPr>
              <a:t>●  </a:t>
            </a:r>
            <a:r>
              <a:rPr sz="1200">
                <a:solidFill>
                  <a:srgbClr val="B8C9E0"/>
                </a:solidFill>
                <a:latin typeface="Calibri"/>
              </a:rPr>
              <a:t>6 memory types operational with persistence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Georgia"/>
              </a:defRPr>
            </a:pPr>
            <a:r>
              <a:t>Phase 3C — QA / Testing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85800"/>
            <a:ext cx="18288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2651760" cy="329184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2651760" cy="457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14300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0D4AA"/>
                </a:solidFill>
                <a:latin typeface="Georgia"/>
              </a:defRPr>
            </a:pPr>
            <a:r>
              <a:t>16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08760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Approval Escalation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8720" y="1874520"/>
            <a:ext cx="1188720" cy="18288"/>
          </a:xfrm>
          <a:prstGeom prst="rect">
            <a:avLst/>
          </a:prstGeom>
          <a:solidFill>
            <a:srgbClr val="0E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011680"/>
            <a:ext cx="21945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000">
                <a:solidFill>
                  <a:srgbClr val="00D4AA"/>
                </a:solidFill>
                <a:latin typeface="Calibri"/>
              </a:rPr>
              <a:t>●  </a:t>
            </a:r>
            <a:r>
              <a:rPr sz="1100">
                <a:solidFill>
                  <a:srgbClr val="B8C9E0"/>
                </a:solidFill>
                <a:latin typeface="Calibri"/>
              </a:rPr>
              <a:t>HITL parking / unparking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000">
                <a:solidFill>
                  <a:srgbClr val="00D4AA"/>
                </a:solidFill>
                <a:latin typeface="Calibri"/>
              </a:rPr>
              <a:t>●  </a:t>
            </a:r>
            <a:r>
              <a:rPr sz="1100">
                <a:solidFill>
                  <a:srgbClr val="B8C9E0"/>
                </a:solidFill>
                <a:latin typeface="Calibri"/>
              </a:rPr>
              <a:t>Approval rules engine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000">
                <a:solidFill>
                  <a:srgbClr val="00D4AA"/>
                </a:solidFill>
                <a:latin typeface="Calibri"/>
              </a:rPr>
              <a:t>●  </a:t>
            </a:r>
            <a:r>
              <a:rPr sz="1100">
                <a:solidFill>
                  <a:srgbClr val="B8C9E0"/>
                </a:solidFill>
                <a:latin typeface="Calibri"/>
              </a:rPr>
              <a:t>Timeout handling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000">
                <a:solidFill>
                  <a:srgbClr val="00D4AA"/>
                </a:solidFill>
                <a:latin typeface="Calibri"/>
              </a:rPr>
              <a:t>●  </a:t>
            </a:r>
            <a:r>
              <a:rPr sz="1100">
                <a:solidFill>
                  <a:srgbClr val="B8C9E0"/>
                </a:solidFill>
                <a:latin typeface="Calibri"/>
              </a:rPr>
              <a:t>Rejection flow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000">
                <a:solidFill>
                  <a:srgbClr val="00D4AA"/>
                </a:solidFill>
                <a:latin typeface="Calibri"/>
              </a:rPr>
              <a:t>●  </a:t>
            </a:r>
            <a:r>
              <a:rPr sz="1100">
                <a:solidFill>
                  <a:srgbClr val="B8C9E0"/>
                </a:solidFill>
                <a:latin typeface="Calibri"/>
              </a:rPr>
              <a:t>Pre-approved actions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005840"/>
            <a:ext cx="2651760" cy="329184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1005840"/>
            <a:ext cx="2651760" cy="457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114300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0D4AA"/>
                </a:solidFill>
                <a:latin typeface="Georgia"/>
              </a:defRPr>
            </a:pPr>
            <a:r>
              <a:t>7 Tests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1508760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Scheduler Verification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23360" y="1874520"/>
            <a:ext cx="1188720" cy="18288"/>
          </a:xfrm>
          <a:prstGeom prst="rect">
            <a:avLst/>
          </a:prstGeom>
          <a:solidFill>
            <a:srgbClr val="0E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0440" y="2011680"/>
            <a:ext cx="21945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000">
                <a:solidFill>
                  <a:srgbClr val="00D4AA"/>
                </a:solidFill>
                <a:latin typeface="Calibri"/>
              </a:rPr>
              <a:t>●  </a:t>
            </a:r>
            <a:r>
              <a:rPr sz="1100">
                <a:solidFill>
                  <a:srgbClr val="B8C9E0"/>
                </a:solidFill>
                <a:latin typeface="Calibri"/>
              </a:rPr>
              <a:t>Init and config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000">
                <a:solidFill>
                  <a:srgbClr val="00D4AA"/>
                </a:solidFill>
                <a:latin typeface="Calibri"/>
              </a:rPr>
              <a:t>●  </a:t>
            </a:r>
            <a:r>
              <a:rPr sz="1100">
                <a:solidFill>
                  <a:srgbClr val="B8C9E0"/>
                </a:solidFill>
                <a:latin typeface="Calibri"/>
              </a:rPr>
              <a:t>Tick increment logic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000">
                <a:solidFill>
                  <a:srgbClr val="00D4AA"/>
                </a:solidFill>
                <a:latin typeface="Calibri"/>
              </a:rPr>
              <a:t>●  </a:t>
            </a:r>
            <a:r>
              <a:rPr sz="1100">
                <a:solidFill>
                  <a:srgbClr val="B8C9E0"/>
                </a:solidFill>
                <a:latin typeface="Calibri"/>
              </a:rPr>
              <a:t>Consolidation stats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000">
                <a:solidFill>
                  <a:srgbClr val="00D4AA"/>
                </a:solidFill>
                <a:latin typeface="Calibri"/>
              </a:rPr>
              <a:t>●  </a:t>
            </a:r>
            <a:r>
              <a:rPr sz="1100">
                <a:solidFill>
                  <a:srgbClr val="B8C9E0"/>
                </a:solidFill>
                <a:latin typeface="Calibri"/>
              </a:rPr>
              <a:t>Time-based triggers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1005840"/>
            <a:ext cx="2651760" cy="329184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005840"/>
            <a:ext cx="2651760" cy="457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114300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0D4AA"/>
                </a:solidFill>
                <a:latin typeface="Georgia"/>
              </a:defRPr>
            </a:pPr>
            <a:r>
              <a:t>7 Tests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1508760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LLM Retry Logic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0" y="1874520"/>
            <a:ext cx="1188720" cy="18288"/>
          </a:xfrm>
          <a:prstGeom prst="rect">
            <a:avLst/>
          </a:prstGeom>
          <a:solidFill>
            <a:srgbClr val="0E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2011680"/>
            <a:ext cx="21945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000">
                <a:solidFill>
                  <a:srgbClr val="00D4AA"/>
                </a:solidFill>
                <a:latin typeface="Calibri"/>
              </a:rPr>
              <a:t>●  </a:t>
            </a:r>
            <a:r>
              <a:rPr sz="1100">
                <a:solidFill>
                  <a:srgbClr val="B8C9E0"/>
                </a:solidFill>
                <a:latin typeface="Calibri"/>
              </a:rPr>
              <a:t>Bad JSON retry loop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000">
                <a:solidFill>
                  <a:srgbClr val="00D4AA"/>
                </a:solidFill>
                <a:latin typeface="Calibri"/>
              </a:rPr>
              <a:t>●  </a:t>
            </a:r>
            <a:r>
              <a:rPr sz="1100">
                <a:solidFill>
                  <a:srgbClr val="B8C9E0"/>
                </a:solidFill>
                <a:latin typeface="Calibri"/>
              </a:rPr>
              <a:t>Provider exhaustion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000">
                <a:solidFill>
                  <a:srgbClr val="00D4AA"/>
                </a:solidFill>
                <a:latin typeface="Calibri"/>
              </a:rPr>
              <a:t>●  </a:t>
            </a:r>
            <a:r>
              <a:rPr sz="1100">
                <a:solidFill>
                  <a:srgbClr val="B8C9E0"/>
                </a:solidFill>
                <a:latin typeface="Calibri"/>
              </a:rPr>
              <a:t>GAP-015 stream fix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000">
                <a:solidFill>
                  <a:srgbClr val="00D4AA"/>
                </a:solidFill>
                <a:latin typeface="Calibri"/>
              </a:rPr>
              <a:t>●  </a:t>
            </a:r>
            <a:r>
              <a:rPr sz="1100">
                <a:solidFill>
                  <a:srgbClr val="B8C9E0"/>
                </a:solidFill>
                <a:latin typeface="Calibri"/>
              </a:rPr>
              <a:t>Circuit breaker integration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Georgia"/>
              </a:defRPr>
            </a:pPr>
            <a:r>
              <a:t>Quality 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85800"/>
            <a:ext cx="164592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536192" cy="164592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536192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353312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00D4AA"/>
                </a:solidFill>
                <a:latin typeface="Georgia"/>
              </a:defRPr>
            </a:pPr>
            <a:r>
              <a:t>962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74520"/>
            <a:ext cx="1353312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Tests Total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135331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A8FA8"/>
                </a:solidFill>
                <a:latin typeface="Calibri"/>
              </a:defRPr>
            </a:pPr>
            <a:r>
              <a:t>(81 new this session)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30552" y="1051560"/>
            <a:ext cx="1536192" cy="164592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30552" y="1051560"/>
            <a:ext cx="1536192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21992" y="1234440"/>
            <a:ext cx="1353312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00D4AA"/>
                </a:solidFill>
                <a:latin typeface="Georgia"/>
              </a:defRPr>
            </a:pPr>
            <a: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21992" y="1874520"/>
            <a:ext cx="1353312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Mypy Errors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21992" y="2194560"/>
            <a:ext cx="135331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A8FA8"/>
                </a:solidFill>
                <a:latin typeface="Calibri"/>
              </a:defRPr>
            </a:pPr>
            <a:r>
              <a:t>(was 3)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03904" y="1051560"/>
            <a:ext cx="1536192" cy="164592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03904" y="1051560"/>
            <a:ext cx="1536192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95344" y="1234440"/>
            <a:ext cx="1353312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00D4AA"/>
                </a:solidFill>
                <a:latin typeface="Georgia"/>
              </a:defRPr>
            </a:pPr>
            <a: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95344" y="1874520"/>
            <a:ext cx="1353312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Ruff Violations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95344" y="2194560"/>
            <a:ext cx="135331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A8FA8"/>
                </a:solidFill>
                <a:latin typeface="Calibri"/>
              </a:defRPr>
            </a:pPr>
            <a:r>
              <a:t>(clean)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77256" y="1051560"/>
            <a:ext cx="1536192" cy="164592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77256" y="1051560"/>
            <a:ext cx="1536192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68696" y="1234440"/>
            <a:ext cx="1353312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00D4AA"/>
                </a:solidFill>
                <a:latin typeface="Georgia"/>
              </a:defRPr>
            </a:pPr>
            <a:r>
              <a:t>120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68696" y="1874520"/>
            <a:ext cx="1353312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Registry Agents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68696" y="2194560"/>
            <a:ext cx="135331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A8FA8"/>
                </a:solidFill>
                <a:latin typeface="Calibri"/>
              </a:defRPr>
            </a:pPr>
            <a:r>
              <a:t>(frozen)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50608" y="1051560"/>
            <a:ext cx="1536192" cy="164592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150608" y="1051560"/>
            <a:ext cx="1536192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42048" y="1234440"/>
            <a:ext cx="1353312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00D4AA"/>
                </a:solidFill>
                <a:latin typeface="Georgia"/>
              </a:defRPr>
            </a:pPr>
            <a:r>
              <a:t>4/4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42048" y="1874520"/>
            <a:ext cx="1353312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GAPs Closed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42048" y="2194560"/>
            <a:ext cx="135331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A8FA8"/>
                </a:solidFill>
                <a:latin typeface="Calibri"/>
              </a:defRPr>
            </a:pPr>
            <a:r>
              <a:t>(all resolved)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017520"/>
            <a:ext cx="8229600" cy="164592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3017520"/>
            <a:ext cx="54864" cy="16459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3108960"/>
            <a:ext cx="7772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00">
                <a:solidFill>
                  <a:srgbClr val="00D4AA"/>
                </a:solidFill>
                <a:latin typeface="Calibri"/>
              </a:rPr>
              <a:t>●  </a:t>
            </a:r>
            <a:r>
              <a:rPr sz="1200">
                <a:solidFill>
                  <a:srgbClr val="B8C9E0"/>
                </a:solidFill>
                <a:latin typeface="Calibri"/>
              </a:rPr>
              <a:t>All 962 tests passing with zero failures across unit, integration, and E2E suites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00">
                <a:solidFill>
                  <a:srgbClr val="00D4AA"/>
                </a:solidFill>
                <a:latin typeface="Calibri"/>
              </a:rPr>
              <a:t>●  </a:t>
            </a:r>
            <a:r>
              <a:rPr sz="1200">
                <a:solidFill>
                  <a:srgbClr val="B8C9E0"/>
                </a:solidFill>
                <a:latin typeface="Calibri"/>
              </a:rPr>
              <a:t>Type safety improved: mypy errors reduced from 3 to 0 in this session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00">
                <a:solidFill>
                  <a:srgbClr val="00D4AA"/>
                </a:solidFill>
                <a:latin typeface="Calibri"/>
              </a:rPr>
              <a:t>●  </a:t>
            </a:r>
            <a:r>
              <a:rPr sz="1200">
                <a:solidFill>
                  <a:srgbClr val="B8C9E0"/>
                </a:solidFill>
                <a:latin typeface="Calibri"/>
              </a:rPr>
              <a:t>Code style clean: zero ruff lint violations, pre-commit hooks passing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00">
                <a:solidFill>
                  <a:srgbClr val="00D4AA"/>
                </a:solidFill>
                <a:latin typeface="Calibri"/>
              </a:rPr>
              <a:t>●  </a:t>
            </a:r>
            <a:r>
              <a:rPr sz="1200">
                <a:solidFill>
                  <a:srgbClr val="B8C9E0"/>
                </a:solidFill>
                <a:latin typeface="Calibri"/>
              </a:rPr>
              <a:t>120-agent registry frozen per CEO directive — no additions or removals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Georgia"/>
              </a:defRPr>
            </a:pPr>
            <a:r>
              <a:t>Files Modified / Created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85800"/>
            <a:ext cx="201168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3931920" cy="347472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3931920" cy="457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14300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D4AA"/>
                </a:solidFill>
                <a:latin typeface="Consolas"/>
              </a:defRPr>
            </a:pPr>
            <a:r>
              <a:t>NEW FILES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0876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700"/>
              </a:spcAft>
            </a:pPr>
            <a:r>
              <a:rPr sz="1100">
                <a:solidFill>
                  <a:srgbClr val="00D4AA"/>
                </a:solidFill>
                <a:latin typeface="Calibri"/>
              </a:rPr>
              <a:t>●  </a:t>
            </a:r>
            <a:r>
              <a:rPr sz="1200">
                <a:solidFill>
                  <a:srgbClr val="B8C9E0"/>
                </a:solidFill>
                <a:latin typeface="Calibri"/>
              </a:rPr>
              <a:t>test_approval_escalation.py  (16 tests)</a:t>
            </a:r>
          </a:p>
          <a:p>
            <a:pPr>
              <a:spcBef>
                <a:spcPts val="700"/>
              </a:spcBef>
              <a:spcAft>
                <a:spcPts val="700"/>
              </a:spcAft>
            </a:pPr>
            <a:r>
              <a:rPr sz="1100">
                <a:solidFill>
                  <a:srgbClr val="00D4AA"/>
                </a:solidFill>
                <a:latin typeface="Calibri"/>
              </a:rPr>
              <a:t>●  </a:t>
            </a:r>
            <a:r>
              <a:rPr sz="1200">
                <a:solidFill>
                  <a:srgbClr val="B8C9E0"/>
                </a:solidFill>
                <a:latin typeface="Calibri"/>
              </a:rPr>
              <a:t>test_scheduler_verification.py  (7 tests)</a:t>
            </a:r>
          </a:p>
          <a:p>
            <a:pPr>
              <a:spcBef>
                <a:spcPts val="700"/>
              </a:spcBef>
              <a:spcAft>
                <a:spcPts val="700"/>
              </a:spcAft>
            </a:pPr>
            <a:r>
              <a:rPr sz="1100">
                <a:solidFill>
                  <a:srgbClr val="00D4AA"/>
                </a:solidFill>
                <a:latin typeface="Calibri"/>
              </a:rPr>
              <a:t>●  </a:t>
            </a:r>
            <a:r>
              <a:rPr sz="1200">
                <a:solidFill>
                  <a:srgbClr val="B8C9E0"/>
                </a:solidFill>
                <a:latin typeface="Calibri"/>
              </a:rPr>
              <a:t>test_llm_retry_verification.py  (7 tests)</a:t>
            </a:r>
          </a:p>
          <a:p>
            <a:pPr>
              <a:spcBef>
                <a:spcPts val="700"/>
              </a:spcBef>
              <a:spcAft>
                <a:spcPts val="700"/>
              </a:spcAft>
            </a:pPr>
            <a:r>
              <a:rPr sz="1100">
                <a:solidFill>
                  <a:srgbClr val="00D4AA"/>
                </a:solidFill>
                <a:latin typeface="Calibri"/>
              </a:rPr>
              <a:t>●  </a:t>
            </a:r>
            <a:r>
              <a:rPr sz="1200">
                <a:solidFill>
                  <a:srgbClr val="B8C9E0"/>
                </a:solidFill>
                <a:latin typeface="Calibri"/>
              </a:rPr>
              <a:t>test_full_pipeline.py  (10 E2E tests)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1005840"/>
            <a:ext cx="3931920" cy="347472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0" y="1005840"/>
            <a:ext cx="3931920" cy="45720"/>
          </a:xfrm>
          <a:prstGeom prst="rect">
            <a:avLst/>
          </a:prstGeom>
          <a:solidFill>
            <a:srgbClr val="FF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83480" y="114300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B847"/>
                </a:solidFill>
                <a:latin typeface="Consolas"/>
              </a:defRPr>
            </a:pPr>
            <a:r>
              <a:t>FIXED FILES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3480" y="150876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100">
                <a:solidFill>
                  <a:srgbClr val="FFB847"/>
                </a:solidFill>
                <a:latin typeface="Calibri"/>
              </a:rPr>
              <a:t>●  </a:t>
            </a:r>
            <a:r>
              <a:rPr sz="1200">
                <a:solidFill>
                  <a:srgbClr val="B8C9E0"/>
                </a:solidFill>
                <a:latin typeface="Calibri"/>
              </a:rPr>
              <a:t>memory/consolidation.py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100">
                <a:solidFill>
                  <a:srgbClr val="FFB847"/>
                </a:solidFill>
                <a:latin typeface="Calibri"/>
              </a:rPr>
              <a:t>●  </a:t>
            </a:r>
            <a:r>
              <a:rPr sz="1200">
                <a:solidFill>
                  <a:srgbClr val="B8C9E0"/>
                </a:solidFill>
                <a:latin typeface="Calibri"/>
              </a:rPr>
              <a:t>llm/client.py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100">
                <a:solidFill>
                  <a:srgbClr val="FFB847"/>
                </a:solidFill>
                <a:latin typeface="Calibri"/>
              </a:rPr>
              <a:t>●  </a:t>
            </a:r>
            <a:r>
              <a:rPr sz="1200">
                <a:solidFill>
                  <a:srgbClr val="B8C9E0"/>
                </a:solidFill>
                <a:latin typeface="Calibri"/>
              </a:rPr>
              <a:t>orchestrator/briefing.py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100">
                <a:solidFill>
                  <a:srgbClr val="FFB847"/>
                </a:solidFill>
                <a:latin typeface="Calibri"/>
              </a:rPr>
              <a:t>●  </a:t>
            </a:r>
            <a:r>
              <a:rPr sz="1200">
                <a:solidFill>
                  <a:srgbClr val="B8C9E0"/>
                </a:solidFill>
                <a:latin typeface="Calibri"/>
              </a:rPr>
              <a:t>memory/integration.py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100">
                <a:solidFill>
                  <a:srgbClr val="FFB847"/>
                </a:solidFill>
                <a:latin typeface="Calibri"/>
              </a:rPr>
              <a:t>●  </a:t>
            </a:r>
            <a:r>
              <a:rPr sz="1200">
                <a:solidFill>
                  <a:srgbClr val="B8C9E0"/>
                </a:solidFill>
                <a:latin typeface="Calibri"/>
              </a:rPr>
              <a:t>dashboard/app.py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100">
                <a:solidFill>
                  <a:srgbClr val="FFB847"/>
                </a:solidFill>
                <a:latin typeface="Calibri"/>
              </a:rPr>
              <a:t>●  </a:t>
            </a:r>
            <a:r>
              <a:rPr sz="1200">
                <a:solidFill>
                  <a:srgbClr val="B8C9E0"/>
                </a:solidFill>
                <a:latin typeface="Calibri"/>
              </a:rPr>
              <a:t>cli/memory.py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Georgia"/>
              </a:defRPr>
            </a:pPr>
            <a:r>
              <a:t>Unfinished Work &amp;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85800"/>
            <a:ext cx="22860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8229600" cy="100584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54864" cy="1005840"/>
          </a:xfrm>
          <a:prstGeom prst="rect">
            <a:avLst/>
          </a:prstGeom>
          <a:solidFill>
            <a:srgbClr val="FF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097280"/>
            <a:ext cx="7772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B847"/>
                </a:solidFill>
                <a:latin typeface="Consolas"/>
              </a:defRPr>
            </a:pPr>
            <a:r>
              <a:t>CEO DIRECTIVE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77724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8C9E0"/>
                </a:solidFill>
                <a:latin typeface="Calibri"/>
              </a:defRPr>
            </a:pPr>
            <a:r>
              <a:t>Registry rationalization: DO NOT reduce — keep at 120 agents. No new features in pipeline until CEO direction.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86000"/>
            <a:ext cx="8046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700"/>
              </a:spcAft>
            </a:pPr>
            <a:r>
              <a:rPr sz="1300">
                <a:solidFill>
                  <a:srgbClr val="00D4AA"/>
                </a:solidFill>
                <a:latin typeface="Calibri"/>
              </a:rPr>
              <a:t>●  </a:t>
            </a:r>
            <a:r>
              <a:rPr sz="1400">
                <a:solidFill>
                  <a:srgbClr val="B8C9E0"/>
                </a:solidFill>
                <a:latin typeface="Calibri"/>
              </a:rPr>
              <a:t>Registry rationalization: CEO says DO NOT reduce — keep at 120 agents</a:t>
            </a:r>
          </a:p>
          <a:p>
            <a:pPr>
              <a:spcBef>
                <a:spcPts val="700"/>
              </a:spcBef>
              <a:spcAft>
                <a:spcPts val="700"/>
              </a:spcAft>
            </a:pPr>
            <a:r>
              <a:rPr sz="1300">
                <a:solidFill>
                  <a:srgbClr val="00D4AA"/>
                </a:solidFill>
                <a:latin typeface="Calibri"/>
              </a:rPr>
              <a:t>●  </a:t>
            </a:r>
            <a:r>
              <a:rPr sz="1400">
                <a:solidFill>
                  <a:srgbClr val="B8C9E0"/>
                </a:solidFill>
                <a:latin typeface="Calibri"/>
              </a:rPr>
              <a:t>Next sprint priorities need CEO input</a:t>
            </a:r>
          </a:p>
          <a:p>
            <a:pPr>
              <a:spcBef>
                <a:spcPts val="700"/>
              </a:spcBef>
              <a:spcAft>
                <a:spcPts val="700"/>
              </a:spcAft>
            </a:pPr>
            <a:r>
              <a:rPr sz="1300">
                <a:solidFill>
                  <a:srgbClr val="00D4AA"/>
                </a:solidFill>
                <a:latin typeface="Calibri"/>
              </a:rPr>
              <a:t>●  </a:t>
            </a:r>
            <a:r>
              <a:rPr sz="1400">
                <a:solidFill>
                  <a:srgbClr val="B8C9E0"/>
                </a:solidFill>
                <a:latin typeface="Calibri"/>
              </a:rPr>
              <a:t>No new features in pipeline until CEO direction</a:t>
            </a:r>
          </a:p>
          <a:p>
            <a:pPr>
              <a:spcBef>
                <a:spcPts val="700"/>
              </a:spcBef>
              <a:spcAft>
                <a:spcPts val="700"/>
              </a:spcAft>
            </a:pPr>
            <a:r>
              <a:rPr sz="1300">
                <a:solidFill>
                  <a:srgbClr val="00D4AA"/>
                </a:solidFill>
                <a:latin typeface="Calibri"/>
              </a:rPr>
              <a:t>●  </a:t>
            </a:r>
            <a:r>
              <a:rPr sz="1400">
                <a:solidFill>
                  <a:srgbClr val="B8C9E0"/>
                </a:solidFill>
                <a:latin typeface="Calibri"/>
              </a:rPr>
              <a:t>Awaiting guidance on next phase of development</a:t>
            </a:r>
          </a:p>
          <a:p>
            <a:pPr>
              <a:spcBef>
                <a:spcPts val="700"/>
              </a:spcBef>
              <a:spcAft>
                <a:spcPts val="700"/>
              </a:spcAft>
            </a:pPr>
            <a:r>
              <a:rPr sz="1300">
                <a:solidFill>
                  <a:srgbClr val="00D4AA"/>
                </a:solidFill>
                <a:latin typeface="Calibri"/>
              </a:rPr>
              <a:t>●  </a:t>
            </a:r>
            <a:r>
              <a:rPr sz="1400">
                <a:solidFill>
                  <a:srgbClr val="B8C9E0"/>
                </a:solidFill>
                <a:latin typeface="Calibri"/>
              </a:rPr>
              <a:t>Sprint 3 (Autonomous Coordination) and Sprint 4 (Quality) awaiting green light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914400"/>
            <a:ext cx="6400800" cy="329184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914400"/>
            <a:ext cx="6400800" cy="457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371600"/>
            <a:ext cx="5486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FFFFFF"/>
                </a:solidFill>
                <a:latin typeface="Georgia"/>
              </a:defRPr>
            </a:pPr>
            <a:r>
              <a:t>Ready to Proceed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0" y="2057400"/>
            <a:ext cx="146304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2286000"/>
            <a:ext cx="5486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00D4AA"/>
                </a:solidFill>
                <a:latin typeface="Georgia"/>
              </a:defRPr>
            </a:pPr>
            <a:r>
              <a:t>on CEO Direction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10896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7A8FA8"/>
                </a:solidFill>
                <a:latin typeface="Calibri"/>
              </a:defRPr>
            </a:pPr>
            <a:r>
              <a:t>AI Company Builder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47472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7A8FA8"/>
                </a:solidFill>
                <a:latin typeface="Calibri"/>
              </a:defRPr>
            </a:pPr>
            <a:r>
              <a:t>962 Tests  |  120 Agents  |  0 Errors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