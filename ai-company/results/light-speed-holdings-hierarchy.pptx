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680960" cy="3291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69494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Georgia"/>
              </a:defRPr>
            </a:pPr>
            <a:r>
              <a:t>Light Speed Holdings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65960"/>
            <a:ext cx="22860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6949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D4AA"/>
                </a:solidFill>
                <a:latin typeface="Georgia"/>
              </a:defRPr>
            </a:pPr>
            <a:r>
              <a:t>Organizational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6949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8FA8"/>
                </a:solidFill>
                <a:latin typeface="Calibri"/>
              </a:defRPr>
            </a:pPr>
            <a:r>
              <a:t>127 AI Agents  |  17 Departments  |  v0.3.0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6949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8C9E0"/>
                </a:solidFill>
                <a:latin typeface="Calibri"/>
              </a:defRPr>
            </a:pPr>
            <a:r>
              <a:t>AI Company Builder — Building the Future of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Company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874519" cy="11887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508759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5087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051560"/>
            <a:ext cx="1874519" cy="11887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59" y="1188720"/>
            <a:ext cx="1508759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59" y="1691640"/>
            <a:ext cx="15087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Departments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8" y="1051560"/>
            <a:ext cx="1874519" cy="11887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8" y="1188720"/>
            <a:ext cx="1508759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8" y="1691640"/>
            <a:ext cx="15087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Org Tiers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37" y="1051560"/>
            <a:ext cx="1874519" cy="11887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17" y="1188720"/>
            <a:ext cx="1508759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D4AA"/>
                </a:solidFill>
                <a:latin typeface="Georgia"/>
              </a:defRPr>
            </a:pPr>
            <a:r>
              <a:t>1,205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17" y="1691640"/>
            <a:ext cx="1508759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54864" cy="2286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0604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Tier 1: Board of Directors — Board Chair + 6 Committee Chairs (governance)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Tier 2: Executive Team — Human CEO, Chief of Staff, 10 C-Suite + CEO Advisor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Tier 3: Department Heads — CTO, COO, CAIO, CPO, CMO, CHRO, CFO, CISO, CLO, CSO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Tier 4: Specialists &amp; Leads — 100+ specialist agents across all departments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Board of Directors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201168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1005840"/>
            <a:ext cx="3291840" cy="9144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005840"/>
            <a:ext cx="3291840" cy="4572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1430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Board Chair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4630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B847"/>
                </a:solidFill>
                <a:latin typeface="Consolas"/>
              </a:defRPr>
            </a:pPr>
            <a:r>
              <a:t>board_chair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234440" cy="13716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2344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1051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Finance Committee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AA"/>
                </a:solidFill>
                <a:latin typeface="Consolas"/>
              </a:defRPr>
            </a:pPr>
            <a:r>
              <a:t>board_finance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1368" y="2286000"/>
            <a:ext cx="1234440" cy="13716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01368" y="2286000"/>
            <a:ext cx="12344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2808" y="2423160"/>
            <a:ext cx="1051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Risk Committee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301752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AA"/>
                </a:solidFill>
                <a:latin typeface="Consolas"/>
              </a:defRPr>
            </a:pPr>
            <a:r>
              <a:t>board_risk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5536" y="2286000"/>
            <a:ext cx="1234440" cy="13716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45536" y="2286000"/>
            <a:ext cx="12344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6976" y="2423160"/>
            <a:ext cx="1051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Strategy Committee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301752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AA"/>
                </a:solidFill>
                <a:latin typeface="Consolas"/>
              </a:defRPr>
            </a:pPr>
            <a:r>
              <a:t>board_strategy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9704" y="2286000"/>
            <a:ext cx="1234440" cy="13716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9704" y="2286000"/>
            <a:ext cx="12344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2423160"/>
            <a:ext cx="1051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Technology Committee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01752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AA"/>
                </a:solidFill>
                <a:latin typeface="Consolas"/>
              </a:defRPr>
            </a:pPr>
            <a:r>
              <a:t>board_technology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33872" y="2286000"/>
            <a:ext cx="1234440" cy="13716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33872" y="2286000"/>
            <a:ext cx="12344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25312" y="2423160"/>
            <a:ext cx="1051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Customer Committee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301752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AA"/>
                </a:solidFill>
                <a:latin typeface="Consolas"/>
              </a:defRPr>
            </a:pPr>
            <a:r>
              <a:t>board_customer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286000"/>
            <a:ext cx="1234440" cy="13716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78040" y="2286000"/>
            <a:ext cx="12344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2423160"/>
            <a:ext cx="1051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Product 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017520"/>
            <a:ext cx="1051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AA"/>
                </a:solidFill>
                <a:latin typeface="Consolas"/>
              </a:defRPr>
            </a:pPr>
            <a:r>
              <a:t>board_product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All committees report to the Board Chair. Human CEO reports directly to Board Chair.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Executive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005840"/>
            <a:ext cx="2743200" cy="82296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097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B847"/>
                </a:solidFill>
                <a:latin typeface="Calibri"/>
              </a:defRPr>
            </a:pPr>
            <a:r>
              <a:t>Human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onsolas"/>
              </a:defRPr>
            </a:pPr>
            <a:r>
              <a:t>human_ceo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920240"/>
            <a:ext cx="2743200" cy="6400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Chief of Staff (Orchestrator)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onsolas"/>
              </a:defRPr>
            </a:pPr>
            <a:r>
              <a:t>chief_of_staff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80467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D4AA"/>
                </a:solidFill>
                <a:latin typeface="Consolas"/>
              </a:defRPr>
            </a:pPr>
            <a:r>
              <a:t>cto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3856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3856" y="2834640"/>
            <a:ext cx="80467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6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D4AA"/>
                </a:solidFill>
                <a:latin typeface="Consolas"/>
              </a:defRPr>
            </a:pPr>
            <a:r>
              <a:t>coo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3392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93392" y="2834640"/>
            <a:ext cx="804672" cy="36576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39112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9112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878FF"/>
                </a:solidFill>
                <a:latin typeface="Consolas"/>
              </a:defRPr>
            </a:pPr>
            <a:r>
              <a:t>caio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2928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52928" y="2834640"/>
            <a:ext cx="804672" cy="36576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98648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8648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EA8FF"/>
                </a:solidFill>
                <a:latin typeface="Consolas"/>
              </a:defRPr>
            </a:pPr>
            <a:r>
              <a:t>cpo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12464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12464" y="2834640"/>
            <a:ext cx="804672" cy="36576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4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8184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B847"/>
                </a:solidFill>
                <a:latin typeface="Consolas"/>
              </a:defRPr>
            </a:pPr>
            <a:r>
              <a:t>cmo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2834640"/>
            <a:ext cx="80467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0D4AA"/>
                </a:solidFill>
                <a:latin typeface="Consolas"/>
              </a:defRPr>
            </a:pPr>
            <a:r>
              <a:t>hr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31536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31536" y="2834640"/>
            <a:ext cx="804672" cy="36576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77256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7256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B847"/>
                </a:solidFill>
                <a:latin typeface="Consolas"/>
              </a:defRPr>
            </a:pPr>
            <a:r>
              <a:t>cfo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2834640"/>
            <a:ext cx="804672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CISO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6B6B"/>
                </a:solidFill>
                <a:latin typeface="Consolas"/>
              </a:defRPr>
            </a:pPr>
            <a:r>
              <a:t>ciso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50608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50608" y="2834640"/>
            <a:ext cx="804672" cy="36576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6328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6328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EA8FF"/>
                </a:solidFill>
                <a:latin typeface="Consolas"/>
              </a:defRPr>
            </a:pPr>
            <a:r>
              <a:t>clo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0144" y="2834640"/>
            <a:ext cx="804672" cy="10058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10144" y="2834640"/>
            <a:ext cx="804672" cy="36576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55864" y="2926080"/>
            <a:ext cx="71323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CSO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5864" y="3246120"/>
            <a:ext cx="713232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878FF"/>
                </a:solidFill>
                <a:latin typeface="Consolas"/>
              </a:defRPr>
            </a:pPr>
            <a:r>
              <a:t>cso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1005840"/>
            <a:ext cx="1188720" cy="640080"/>
          </a:xfrm>
          <a:prstGeom prst="rect">
            <a:avLst/>
          </a:prstGeom>
          <a:solidFill>
            <a:srgbClr val="0E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8120" y="105156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B8C9E0"/>
                </a:solidFill>
                <a:latin typeface="Calibri"/>
              </a:defRPr>
            </a:pPr>
            <a:r>
              <a:t>CEO Advisor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1325880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A8FA8"/>
                </a:solidFill>
                <a:latin typeface="Consolas"/>
              </a:defRPr>
            </a:pPr>
            <a:r>
              <a:t>advisor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10 C-Suite executives  |  Chief of Staff orchestrates cross-functional work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Technology Department (CTO)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5603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VP of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AA"/>
                </a:solidFill>
                <a:latin typeface="Consolas"/>
              </a:defRPr>
            </a:pPr>
            <a:r>
              <a:t>vp_engineering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743200" cy="29260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alibri"/>
              </a:defRPr>
            </a:pPr>
            <a:r>
              <a:t>Platform &amp; QA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DevOps Lead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Platform Reliability Eng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Audit Trail Owner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Graph / Dashboard Owners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QA Lead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Test Eng Lead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QA Automation Eng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Release Manager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00D4AA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QA Engineer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828800"/>
            <a:ext cx="2743200" cy="29260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2743200" cy="36576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EA8FF"/>
                </a:solidFill>
                <a:latin typeface="Calibri"/>
              </a:defRPr>
            </a:pPr>
            <a:r>
              <a:t>Engineering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9456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4EA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Lead Backend Engineer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4EA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Senior Backend Eng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4EA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Backend Engineer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4EA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Full Stack Engineer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4EA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Lead Frontend Engineer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4EA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Senior Frontend Eng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4EA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Frontend Engineer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4EA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→ Mobile Developer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743200" cy="29260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743200" cy="36576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878FF"/>
                </a:solidFill>
                <a:latin typeface="Calibri"/>
              </a:defRPr>
            </a:pPr>
            <a:r>
              <a:t>Architecture &amp;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Solution Architect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Lead DevOps Engineer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Platform / Frontend Arch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API Architect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Observability Engineer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Scalability Architect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Software / Cloud Architect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CDO → Data Engineer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>
                <a:solidFill>
                  <a:srgbClr val="A878FF"/>
                </a:solidFill>
                <a:latin typeface="Calibri"/>
              </a:rPr>
              <a:t>●  </a:t>
            </a:r>
            <a:r>
              <a:rPr sz="1000">
                <a:solidFill>
                  <a:srgbClr val="B8C9E0"/>
                </a:solidFill>
                <a:latin typeface="Calibri"/>
              </a:rPr>
              <a:t>Data Scientist / BI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20+ specialists  |  VP Engineering, CDO, 3 Lead Engineers, 8+ Architects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Operations Department (COO)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Workflow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02412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Core operations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02412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Orchestration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02412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Agent orchestration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32588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34416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Doctor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34416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System health &amp; diagnostics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32588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34416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Decision Engine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34416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Automated decision pipelines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4592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64592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166420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Memory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166420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Memory &amp; knowledge 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64592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64592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166420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Audit Trail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66420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Audit logging &amp; compliance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196596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196596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198424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Capacity 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198424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Resource capacity planning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196596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196596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198424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Business Continuity Mgr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198424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Disaster recovery &amp; BCP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28600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228600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230428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Vendor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230428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Third-party vendor relations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228600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3440" y="228600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230428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 Quality Mgr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30428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Process improvement &amp; QA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60604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260604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262432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SOP Owner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262432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Standard operating procedures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260604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3440" y="260604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0600" y="262432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Program Manager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262432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Cross-functional programs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926080"/>
            <a:ext cx="4023360" cy="2743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292608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2944368"/>
            <a:ext cx="2011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Knowledge Manager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944368"/>
            <a:ext cx="1737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Knowledge base management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13 specialists  |  Full operational lifecycle coverage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AI Research Department (CAIO)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931920" cy="36576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878FF"/>
                </a:solidFill>
                <a:latin typeface="Calibri"/>
              </a:defRPr>
            </a:pPr>
            <a:r>
              <a:t>Core AI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ML Engineer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ML Services Owner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Memory Owner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LLM Platform Owner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Eval Benchmarks Engineer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Prompt Engineer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MLOps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005840"/>
            <a:ext cx="4114800" cy="2286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005840"/>
            <a:ext cx="41148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AI Safety Sub-Team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41732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FF6B6B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AI Safety Lead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FF6B6B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→ Red Team Engineer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FF6B6B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→ Constitutional AI Owner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FF6B6B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→ AI Ethics Officer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FF6B6B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→ Human-AI Interaction Designer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10 specialists  |  ML, LLM Platform, Safety, Ethics, and MLOps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Product Department (CPO)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" cy="411480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UX Research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0972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User research &amp;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51560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51560"/>
            <a:ext cx="45720" cy="411480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0972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UX Analytics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0972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Usage analytics &amp;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36192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36192"/>
            <a:ext cx="45720" cy="411480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58191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Technical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58191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Docs &amp; knowledge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536192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536192"/>
            <a:ext cx="45720" cy="411480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58191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Growth Product 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58191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Growth experiments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020824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020824"/>
            <a:ext cx="45720" cy="411480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066544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Developer Experience Eng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06654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DX tooling &amp; workflows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020824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2020824"/>
            <a:ext cx="45720" cy="411480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066544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Product Designer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06654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UI/UX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05456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505456"/>
            <a:ext cx="45720" cy="411480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551176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Product Owner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551176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Backlog &amp; priorities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505456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2505456"/>
            <a:ext cx="45720" cy="411480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2551176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Technical Writer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551176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Technical content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8 specialists  |  UX, Growth, Documentation, and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Marketing Department (CMO)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" cy="41148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Marketing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0972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Marketing strategy &amp; 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51560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51560"/>
            <a:ext cx="45720" cy="41148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0972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Head of Developer Relations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0972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Dev community &amp; advocacy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36192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36192"/>
            <a:ext cx="45720" cy="41148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58191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Product Marketing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5819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Go-to-market &amp; positioning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536192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536192"/>
            <a:ext cx="45720" cy="41148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581912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Industry Analyst Relations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5819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Analyst briefings &amp; 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020824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020824"/>
            <a:ext cx="45720" cy="41148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06654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Content Writer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06654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Written content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020824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2020824"/>
            <a:ext cx="45720" cy="41148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06654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Content Creator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06654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Visual &amp; multimedia content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05456"/>
            <a:ext cx="3931920" cy="4114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505456"/>
            <a:ext cx="45720" cy="411480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551176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Growth Hacker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255117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FA8"/>
                </a:solidFill>
                <a:latin typeface="Calibri"/>
              </a:defRPr>
            </a:pPr>
            <a:r>
              <a:t>Growth experiments &amp; hacks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7 specialists  |  Content, DevRel, Product Marketing, Growth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People Department (CHRO)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7043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HR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7043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HR operations &amp; policy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6479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Learning &amp; Development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6479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Training &amp; upskilling programs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28600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5915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Employee Experience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5915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Engagement &amp; retention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88036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8036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95351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Culture &amp; Values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95351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Culture &amp; DEI initiatives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7472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74720"/>
            <a:ext cx="45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4787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Recruiter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4787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Talent acquisition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5 specialists  |  HR, L&amp;D, Culture, Employee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Security Department (CISO)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0" cy="310896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0292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Core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Security Architect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AI Security Specialist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Penetration Testing Lead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Incident Response Lead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DevSecOps Lead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Supply Chain Security Eng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6B6B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Threat Intelligence Analyst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05840"/>
            <a:ext cx="3017520" cy="13716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005840"/>
            <a:ext cx="3017520" cy="36576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0972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B847"/>
                </a:solidFill>
                <a:latin typeface="Calibri"/>
              </a:defRPr>
            </a:pPr>
            <a:r>
              <a:t>Compliance Sub-Team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FFB847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Security &amp; Compliance Lead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000">
                <a:solidFill>
                  <a:srgbClr val="FFB847"/>
                </a:solidFill>
                <a:latin typeface="Calibri"/>
              </a:rPr>
              <a:t>●  </a:t>
            </a:r>
            <a:r>
              <a:rPr sz="1100">
                <a:solidFill>
                  <a:srgbClr val="B8C9E0"/>
                </a:solidFill>
                <a:latin typeface="Calibri"/>
              </a:rPr>
              <a:t>→ SOC 2 Audit Readiness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8 specialists  |  Security architecture, pen testing, compliance, threat intel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Strategy Department (CSO)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45720" cy="502920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7043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Head of Competitive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7043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Market &amp; competitor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91640"/>
            <a:ext cx="45720" cy="502920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6479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Corporate Development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M&amp;A and partnerships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286000"/>
            <a:ext cx="45720" cy="502920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5915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Revenue Operations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5915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RevOps &amp; pipeline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88036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80360"/>
            <a:ext cx="45720" cy="502920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95351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Solutions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95351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Technical sales solutions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74720"/>
            <a:ext cx="7772400" cy="50292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74720"/>
            <a:ext cx="45720" cy="502920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4787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Market Analyst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47872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FA8"/>
                </a:solidFill>
                <a:latin typeface="Calibri"/>
              </a:defRPr>
            </a:pPr>
            <a:r>
              <a:t>Market research &amp; trends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5 specialists  |  Competitive intelligence, corp dev, RevOps, market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Sales &amp; Customer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22860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931920" cy="36576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B847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FFB847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Head of Sales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FFB847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→ Sales Owner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FFB847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→ Business 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05840"/>
            <a:ext cx="4023360" cy="292608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40233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Customer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630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Head of Customer Success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→ Customer Success Owner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200">
                <a:solidFill>
                  <a:srgbClr val="00D4AA"/>
                </a:solidFill>
                <a:latin typeface="Calibri"/>
              </a:rPr>
              <a:t>●  </a:t>
            </a:r>
            <a:r>
              <a:rPr sz="1300">
                <a:solidFill>
                  <a:srgbClr val="B8C9E0"/>
                </a:solidFill>
                <a:latin typeface="Calibri"/>
              </a:rPr>
              <a:t>→ Support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5 agents  |  Sales pipeline + Customer retention &amp;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Finance &amp; Legal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6459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931920" cy="36576"/>
          </a:xfrm>
          <a:prstGeom prst="rect">
            <a:avLst/>
          </a:prstGeom>
          <a:solidFill>
            <a:srgbClr val="FF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B847"/>
                </a:solidFill>
                <a:latin typeface="Calibri"/>
              </a:defRPr>
            </a:pPr>
            <a:r>
              <a:t>Finance (CFO)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B847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Financial Analyst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FFB847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Investor Relations Lead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05840"/>
            <a:ext cx="4023360" cy="27432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4023360" cy="36576"/>
          </a:xfrm>
          <a:prstGeom prst="rect">
            <a:avLst/>
          </a:prstGeom>
          <a:solidFill>
            <a:srgbClr val="4E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EA8FF"/>
                </a:solidFill>
                <a:latin typeface="Calibri"/>
              </a:defRPr>
            </a:pPr>
            <a:r>
              <a:t>Legal (CLO + Legal Advisor)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630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4EA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Compliance Officer (CLO)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4EA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Data Privacy Officer (CLO)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4EA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Legal Owner (Legal Advisor)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4EA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Compliance Officer (Legal Advisor)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6 agents  |  CFO (2 specialists) + CLO (2) + Legal Advisor 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Data &amp;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931920" cy="36576"/>
          </a:xfrm>
          <a:prstGeom prst="rect">
            <a:avLst/>
          </a:prstGeom>
          <a:solidFill>
            <a:srgbClr val="A8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878FF"/>
                </a:solidFill>
                <a:latin typeface="Calibri"/>
              </a:defRPr>
            </a:pPr>
            <a:r>
              <a:t>Data (CDO)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Data Engineer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Data Scientist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100">
                <a:solidFill>
                  <a:srgbClr val="A878FF"/>
                </a:solidFill>
                <a:latin typeface="Calibri"/>
              </a:rPr>
              <a:t>●  </a:t>
            </a:r>
            <a:r>
              <a:rPr sz="1200">
                <a:solidFill>
                  <a:srgbClr val="B8C9E0"/>
                </a:solidFill>
                <a:latin typeface="Calibri"/>
              </a:rPr>
              <a:t>Business Intelligence Engineer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05840"/>
            <a:ext cx="4023360" cy="27432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4023360" cy="36576"/>
          </a:xfrm>
          <a:prstGeom prst="rect">
            <a:avLst/>
          </a:prstGeom>
          <a:solidFill>
            <a:srgbClr val="7A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A8FA8"/>
                </a:solidFill>
                <a:latin typeface="Calibri"/>
              </a:defRPr>
            </a:pPr>
            <a:r>
              <a:t>IT (CIO)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54480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8C9E0"/>
                </a:solidFill>
                <a:latin typeface="Calibri"/>
              </a:defRPr>
            </a:pPr>
            <a:r>
              <a:t>CIO — No direct reports yet</a:t>
            </a:r>
            <a:br/>
            <a:r>
              <a:t>Infrastructure and IT services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8FA8"/>
                </a:solidFill>
                <a:latin typeface="Calibri"/>
              </a:defRPr>
            </a:pPr>
            <a:r>
              <a:t>3 data specialists  |  CIO role established, reports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6400800" cy="36576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731520"/>
            <a:ext cx="64008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Georgia"/>
              </a:defRPr>
            </a:pPr>
            <a:r>
              <a:t>127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D4AA"/>
                </a:solidFill>
                <a:latin typeface="Georgia"/>
              </a:defRPr>
            </a:pPr>
            <a:r>
              <a:t>17 Departments.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240280"/>
            <a:ext cx="14630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FB847"/>
                </a:solidFill>
                <a:latin typeface="Georgia"/>
              </a:defRPr>
            </a:pPr>
            <a:r>
              <a:t>One 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0896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8C9E0"/>
                </a:solidFill>
                <a:latin typeface="Calibri"/>
              </a:defRPr>
            </a:pPr>
            <a:r>
              <a:t>Building the Future of Work with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661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FA8"/>
                </a:solidFill>
                <a:latin typeface="Calibri"/>
              </a:defRPr>
            </a:pPr>
            <a:r>
              <a:t>Light Speed Holdings  |  v0.3.0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8FA8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