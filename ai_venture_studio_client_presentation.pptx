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LightSpeed Holdings Limited(TM) lockup top-left, deck title, red accent rule. No tagline on this slide; the tagline appears once, on the closing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five shipped parts, then land the point: this is one repeatable engine, not five separate projects. Note that some parts are internal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engine, three delivery portfolios. The left column is the engine; the right blocks are the constraint-first design principles that keep a portfolio buildable inside real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archetypes, one engine. Emphasise that D was added on technical validation, and that the four reservations apply to all four archetypes.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gates, each with a hard criterion. The point for a client is that capital is only released after a gate is cleared, not on a calendar.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interface, one guardrail, one routing point. The stack is AI-agnostic: it works with any LLM provider and with local models. Red is used only for the PII directive.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metrics, each mapped to a CFO KPI. Be explicit that 3-5x is a modeled estimate, and that velocity is measured from validation approval, not from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empty category, not with a first-mover boast: no direct local equivalent was identified. The acquisition path is discovery calls, design partners, spin-out,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 is concrete: five approval tiers, an explicit CORS allowlist, a PII proxy, and fail-closed auth. Two claims are worth spelling out: never a wildcard, and deny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commercial summary: one table, phased, with the ongoing layer called out separately from the gated deliverables.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next five moves. The first is a decision, not a workshop: a 60-minute alignment call that picks the archetype.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the checklist used to sign this deck off against brand guidelines section 9. Deviations are documented, not silent.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Full navy, official lockup, cyan tagline. No new content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ull.png"/>
          <p:cNvPicPr>
            <a:picLocks noChangeAspect="1"/>
          </p:cNvPicPr>
          <p:nvPr/>
        </p:nvPicPr>
        <p:blipFill>
          <a:blip r:embed="rId2">
            <a:clrChange useAlpha="1">
              <a:clrFrom>
                <a:srgbClr val="02062F">
                  <a:alpha val="100000"/>
                </a:srgbClr>
              </a:clrFrom>
              <a:clrTo>
                <a:srgbClr val="02062F">
                  <a:alpha val="0"/>
                </a:srgbClr>
              </a:clrTo>
            </a:clrChange>
          </a:blip>
          <a:srcRect l="15152" r="14673" t="18501" b="24641"/>
          <a:stretch>
            <a:fillRect/>
          </a:stretch>
        </p:blipFill>
        <p:spPr>
          <a:xfrm>
            <a:off x="219248" y="44888"/>
            <a:ext cx="2475738" cy="24757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28600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AI Venture Studio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3611880"/>
            <a:ext cx="822960" cy="3657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0" y="62179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F2F2F2"/>
                </a:solidFill>
                <a:latin typeface="Arial"/>
              </a:rPr>
              <a:t>Client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621792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F2F2F2"/>
                </a:solidFill>
                <a:latin typeface="Arial"/>
              </a:rPr>
              <a:t>2026-10-12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Executive Summary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8092440" cy="20848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1051560"/>
                <a:gridCol w="6080760"/>
              </a:tblGrid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Delivered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Core Deliverable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Shipped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Website brand psychology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Shipped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Sector landscape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Shipped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AI-Company Builder engine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Shipped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Technical architecture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Shipped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Core metrics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520440"/>
            <a:ext cx="393192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Since shipping Parts 1–5 in September 2026, the studio has delivered a stage-gated, repeatable engine: shared infrastructure, agent stacks, data pipelines, and go-to-market engines that co-found, validate, build, and launch AI-native entities.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3520440"/>
            <a:ext cx="54864" cy="173736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09744" y="3520440"/>
            <a:ext cx="3877056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685032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995928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Each venture gets access to capital-efficient infrastructure, governance that scales without chaos, and a clear path from thesis to spin-out.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98932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Parts 1–5 shipped September 2026. Several are internal build milestones, not client deliverables.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The Studio Operating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301752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3017520" cy="310896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2070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Studio Operating Engine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1545336"/>
            <a:ext cx="276148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682495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Strategic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2112264"/>
            <a:ext cx="276148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24942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Agent 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" y="2679191"/>
            <a:ext cx="276148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816351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Shared Services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75887" y="2103120"/>
            <a:ext cx="502920" cy="237744"/>
          </a:xfrm>
          <a:prstGeom prst="rightArrow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143000"/>
            <a:ext cx="18288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070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1978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Portfolio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4173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Enterprise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874519"/>
            <a:ext cx="18288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070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19293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Portfolio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2148839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E63946"/>
                </a:solidFill>
                <a:latin typeface="Arial"/>
              </a:rPr>
              <a:t>B2B</a:t>
            </a:r>
            <a:r>
              <a:rPr sz="1200" b="0" i="0">
                <a:solidFill>
                  <a:srgbClr val="6B7280"/>
                </a:solidFill>
                <a:latin typeface="Arial"/>
              </a:rPr>
              <a:t> AI Workflow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606040"/>
            <a:ext cx="18288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070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266090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Portfolio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288036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0BFFF"/>
                </a:solidFill>
                <a:latin typeface="Arial"/>
              </a:rPr>
              <a:t>Sovereign</a:t>
            </a:r>
            <a:r>
              <a:rPr sz="1200" b="0" i="0">
                <a:solidFill>
                  <a:srgbClr val="6B7280"/>
                </a:solidFill>
                <a:latin typeface="Arial"/>
              </a:rPr>
              <a:t>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143000"/>
            <a:ext cx="1078992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1271016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472184"/>
            <a:ext cx="8961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Constraint-first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25512" y="1143000"/>
            <a:ext cx="1078992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16952" y="1271016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16952" y="1472184"/>
            <a:ext cx="8961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AI-agnostic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240280"/>
            <a:ext cx="1078992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2368296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2569464"/>
            <a:ext cx="8961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PII-first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25512" y="2240280"/>
            <a:ext cx="1078992" cy="9875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16952" y="2368296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6952" y="2569464"/>
            <a:ext cx="89611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Capital-efficient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3611880"/>
            <a:ext cx="25420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712463"/>
            <a:ext cx="2249424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Portfolio A — Enterprise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4151376"/>
            <a:ext cx="2249424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Deep workflow integration inside a single large organisation.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9272" y="3611880"/>
            <a:ext cx="25420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65576" y="3712463"/>
            <a:ext cx="2249424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Portfolio B — B2B AI Workflow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65576" y="4151376"/>
            <a:ext cx="2249424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Vertical AI fine-tuned on a sector's recurring workflow.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4184" y="3611880"/>
            <a:ext cx="25420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0488" y="3712463"/>
            <a:ext cx="2249424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Portfolio C — Sovereign 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0488" y="4151376"/>
            <a:ext cx="2249424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On-prem / sovereign deployment where data cannot leave jurisdiction.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98932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“Three” (Portfolios A–C) and “four” (reservations) are distinct frameworks, not a count error.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Portfolio Archetypes A–D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18516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1851660" cy="384048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34440"/>
            <a:ext cx="163220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Portfolio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709928"/>
            <a:ext cx="163220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350008"/>
            <a:ext cx="1632204" cy="1261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Deep workflow integration for large organisations; long sales cycles, high contract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685031"/>
            <a:ext cx="1632204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77647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Frontier 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8900" y="1143000"/>
            <a:ext cx="18516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28900" y="1143000"/>
            <a:ext cx="1851660" cy="384048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38628" y="1234440"/>
            <a:ext cx="163220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Portfolio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8628" y="1709928"/>
            <a:ext cx="163220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B2B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8628" y="2350008"/>
            <a:ext cx="1632204" cy="1261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E63946"/>
                </a:solidFill>
                <a:latin typeface="Arial"/>
              </a:rPr>
              <a:t>Vertical AI fine-tuned</a:t>
            </a:r>
            <a:r>
              <a:rPr sz="1200" b="0" i="0">
                <a:solidFill>
                  <a:srgbClr val="6B7280"/>
                </a:solidFill>
                <a:latin typeface="Arial"/>
              </a:rPr>
              <a:t> on sector workflows, sold to operators who already own the process.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38628" y="3685031"/>
            <a:ext cx="1632204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38628" y="377647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Fine-tuned tier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143000"/>
            <a:ext cx="18516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3440" y="1143000"/>
            <a:ext cx="1851660" cy="384048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1234440"/>
            <a:ext cx="163220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Portfolio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1709928"/>
            <a:ext cx="163220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Sovereign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73168" y="2350008"/>
            <a:ext cx="1632204" cy="1261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0BFFF"/>
                </a:solidFill>
                <a:latin typeface="Arial"/>
              </a:rPr>
              <a:t>On-prem / sovereign</a:t>
            </a:r>
            <a:r>
              <a:rPr sz="1200" b="0" i="0">
                <a:solidFill>
                  <a:srgbClr val="6B7280"/>
                </a:solidFill>
                <a:latin typeface="Arial"/>
              </a:rPr>
              <a:t> deployment where regulated data cannot leave the jurisdiction.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73168" y="3685031"/>
            <a:ext cx="1632204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73168" y="377647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Sovereign tier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97980" y="1143000"/>
            <a:ext cx="18516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97980" y="1143000"/>
            <a:ext cx="1851660" cy="384048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07708" y="1234440"/>
            <a:ext cx="163220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Portfolio 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07708" y="1709928"/>
            <a:ext cx="1632204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Consumer Platforms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07708" y="2350008"/>
            <a:ext cx="1632204" cy="1261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0BFFF"/>
                </a:solidFill>
                <a:latin typeface="Arial"/>
              </a:rPr>
              <a:t>High-volume, low-latency</a:t>
            </a:r>
            <a:r>
              <a:rPr sz="1200" b="0" i="0">
                <a:solidFill>
                  <a:srgbClr val="6B7280"/>
                </a:solidFill>
                <a:latin typeface="Arial"/>
              </a:rPr>
              <a:t> consumer surfaces where unit cost decides the business model.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07708" y="3685031"/>
            <a:ext cx="1632204" cy="32918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07708" y="377647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Cost-cascaded tier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370832"/>
            <a:ext cx="8092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Four reservations, applied to every archetype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4663440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60857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Constraint-first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28900" y="4663440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11780" y="460857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AI-agnostic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663440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0" y="460857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PII-first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97980" y="4663440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80860" y="460857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Capital-efficient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98932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Portfolio D added per CTO validation. The “three” and “four” refer to distinct frameworks.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Stage-Gated Development Lifecycle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8092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868680"/>
                <a:gridCol w="3246120"/>
                <a:gridCol w="25603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Key Deliverables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Gate Criteria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1. Discovery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Weeks 1–2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Problem discovery &amp; thesis definition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3+ problem statements validated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2. Validation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Weeks 3–6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POC + 15–20 buyer calls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3+ positive commitments; feasibility confirmed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3. Build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Weeks 7–14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MVA deployed to 2–3 design partners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MVA running; ATC ≥80% gate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4. Scale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Month 4+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Spin-out, leadership recruitment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Entity formed; term sheet issued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56048"/>
            <a:ext cx="8092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Tracked across all phases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5248656"/>
            <a:ext cx="192024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3492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ATC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628900" y="5248656"/>
            <a:ext cx="192024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8900" y="53492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Correction Ratio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5248656"/>
            <a:ext cx="192024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53492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Velocity to MVP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7980" y="5248656"/>
            <a:ext cx="192024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7980" y="534924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Capital Efficiency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Key metrics tracked across all phases. Velocity to MVP is measured from validation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Technical Architecture (AI-Agnostic System)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8092440" cy="420624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243584"/>
            <a:ext cx="779983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L1 · Unified API Standard — one interface for every model provider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4480560" y="1600200"/>
            <a:ext cx="182880" cy="201168"/>
          </a:xfrm>
          <a:prstGeom prst="downArrow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810512"/>
            <a:ext cx="2514600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83664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Guardrail Proxy (inbound)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Redacts or hashes PII; validates schema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1810512"/>
            <a:ext cx="2331720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883664"/>
            <a:ext cx="214883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Cost / Latency 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121408"/>
            <a:ext cx="2148839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The only fan-out point in the mesh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43016" y="1810512"/>
            <a:ext cx="1783080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34455" y="1883664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Fallback Chains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5" y="212140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Deterministic retry and failover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127248" y="2084831"/>
            <a:ext cx="201168" cy="164592"/>
          </a:xfrm>
          <a:prstGeom prst="rightArrow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60136" y="2084831"/>
            <a:ext cx="201168" cy="164592"/>
          </a:xfrm>
          <a:prstGeom prst="rightArrow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4480560" y="2578608"/>
            <a:ext cx="182880" cy="201168"/>
          </a:xfrm>
          <a:prstGeom prst="downArrow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816352"/>
            <a:ext cx="254203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070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80360"/>
            <a:ext cx="232257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Frontier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108960"/>
            <a:ext cx="232257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Highest capability, highest unit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9272" y="2816352"/>
            <a:ext cx="254203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070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2880360"/>
            <a:ext cx="232257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Open-weights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108960"/>
            <a:ext cx="232257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Fine-tuned, self-hosted, margin control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4184" y="2816352"/>
            <a:ext cx="254203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070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2880360"/>
            <a:ext cx="2322576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Local / Sovereign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108960"/>
            <a:ext cx="232257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On-prem or in-jurisdiction deployment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639312"/>
            <a:ext cx="8092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Engineering directives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913632"/>
            <a:ext cx="25603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E63946"/>
                </a:solidFill>
                <a:latin typeface="Arial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91363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Universal Protocol Proxy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1330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Every provider speaks one contract; swapping a model is a config change.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3913632"/>
            <a:ext cx="25603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E63946"/>
                </a:solidFill>
                <a:latin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391363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Model Cascade &amp; Dynamic Router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1330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Route by cost and latency budget, escalate only when quality demands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626864"/>
            <a:ext cx="25603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E63946"/>
                </a:solidFill>
                <a:latin typeface="Arial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62686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Deterministic Execution &amp;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8463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Every agent action is logged, replayable, and attributable.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4626864"/>
            <a:ext cx="25603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E63946"/>
                </a:solidFill>
                <a:latin typeface="Arial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462686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Security &amp; PII Guardrails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8463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Nothing reaches a model before redaction and schema validation.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" y="5468112"/>
            <a:ext cx="73152" cy="5669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7512" y="5468112"/>
            <a:ext cx="8019288" cy="5669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" y="5577840"/>
            <a:ext cx="769010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The intermediary proxy layer redacts or hashes PII before every LLM request, and validates schema on all outputs.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Core Performance Metrics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8092440" cy="3310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417320"/>
                <a:gridCol w="2377440"/>
                <a:gridCol w="260604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Goal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Why It Matters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CFO KPI Mapping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ATC Rate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≥90% trailing 30 days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Autonomous agent efficacy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Cost per Agent; ROI per Dept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Velocity to MVP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&lt;60 days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Speed-to-market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Budget Utilization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Manual Correction Ratio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Per 1,000 actions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Quality signal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Revenue per Task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Capital Efficiency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3–5× (modeled)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Shared infrastructure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Cost per Agent; Budget Utilization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663440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Studio vs. company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901184"/>
            <a:ext cx="2542032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Studio metrics measure delivery. CFO registry KPIs: Budget Utilization, Cost per Agent, ROI per Dept, Total Revenue, Revenue Margin, Revenue per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4991" y="4663440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Velocity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1" y="4901184"/>
            <a:ext cx="2542032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The &lt;60-day goal measures Phase 2 validation approval to Phase 3 minimal MVP deployment, not idea to revenue.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35624" y="4663440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3–5× basis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5624" y="4901184"/>
            <a:ext cx="2542032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Modeled estimate from traditional seed-round cost structures versus shared-infrastructure economics. Assumptions available on request.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Go-to-Market &amp; Client Acquisition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Target industries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4475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0B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Healthcare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6537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0B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65376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0B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Government &amp; Public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0BFFF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06624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Donor &amp; Non-Profit Sector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2724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0BFFF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127248"/>
            <a:ext cx="32461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Academia &amp; 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1143000"/>
            <a:ext cx="4160520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126187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Competitive 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1517904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The “AI company builder” category has </a:t>
            </a:r>
            <a:r>
              <a:rPr sz="1200" b="1" i="0">
                <a:solidFill>
                  <a:srgbClr val="00BFFF"/>
                </a:solidFill>
                <a:latin typeface="Arial"/>
              </a:rPr>
              <a:t>no direct local equivalent identified</a:t>
            </a:r>
            <a:r>
              <a:rPr sz="1200" b="0" i="0">
                <a:solidFill>
                  <a:srgbClr val="6B7280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Key players: BCG, Deloitte Africa, Accenture, Qhala.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761488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Client acquisition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3035808"/>
            <a:ext cx="41605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6008" y="310896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E63946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108960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15–20 buyer discovery calls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80" y="3447288"/>
            <a:ext cx="41605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352044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E63946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520440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Design partner program (2–3)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3858768"/>
            <a:ext cx="41605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93192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E63946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931920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Spin-out with dedicated leadership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26280" y="4270248"/>
            <a:ext cx="41605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6008" y="4343400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E63946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343400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Ongoing studio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718304"/>
            <a:ext cx="8092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Four reservations, applied to every client engagement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065776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02920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Constraint-first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5029200"/>
            <a:ext cx="2148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Design inside real bandwidth, budget, and data limits.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5065776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502920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AI-agnostic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029200"/>
            <a:ext cx="2148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Any provider, including local models.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5577840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54126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PII-first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5541264"/>
            <a:ext cx="2148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Redaction before inference, by default.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63440" y="5577840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46320" y="554126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Capital-efficient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5541264"/>
            <a:ext cx="2148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Shared infrastructure instead of duplicated builds.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Governance &amp;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1554480" cy="512064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930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Tier 1</a:t>
            </a:r>
          </a:p>
        </p:txBody>
      </p:sp>
      <p:sp>
        <p:nvSpPr>
          <p:cNvPr id="7" name="Rectangle 6"/>
          <p:cNvSpPr/>
          <p:nvPr/>
        </p:nvSpPr>
        <p:spPr>
          <a:xfrm>
            <a:off x="2231136" y="1143000"/>
            <a:ext cx="1554480" cy="512064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31136" y="128930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Tier 2</a:t>
            </a:r>
          </a:p>
        </p:txBody>
      </p:sp>
      <p:sp>
        <p:nvSpPr>
          <p:cNvPr id="9" name="Rectangle 8"/>
          <p:cNvSpPr/>
          <p:nvPr/>
        </p:nvSpPr>
        <p:spPr>
          <a:xfrm>
            <a:off x="3867912" y="1143000"/>
            <a:ext cx="1554480" cy="512064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67912" y="128930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Tier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1143000"/>
            <a:ext cx="1554480" cy="512064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04688" y="128930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Tier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41464" y="1143000"/>
            <a:ext cx="1554480" cy="512064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41464" y="128930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Tier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737360"/>
            <a:ext cx="8092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5-tier approval matrix (GAP-003): every privileged tool call passes tier gating before execution.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2148839"/>
            <a:ext cx="82296" cy="82296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2103120"/>
            <a:ext cx="777240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Deny by default. Assume breach. Every finding gets a severity rating and a remediation timeline.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2715768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2670048"/>
            <a:ext cx="777240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Dashboard CORS: explicit allowlist, </a:t>
            </a:r>
            <a:r>
              <a:rPr sz="1300" b="1" i="0">
                <a:solidFill>
                  <a:srgbClr val="E63946"/>
                </a:solidFill>
                <a:latin typeface="Arial"/>
              </a:rPr>
              <a:t>never wildcard</a:t>
            </a:r>
            <a:r>
              <a:rPr sz="1300" b="0" i="0">
                <a:solidFill>
                  <a:srgbClr val="6B7280"/>
                </a:solidFill>
                <a:latin typeface="Arial"/>
              </a:rPr>
              <a:t> (GAP-010/011).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282696"/>
            <a:ext cx="82296" cy="82296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3236976"/>
            <a:ext cx="777240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PII guardrails: the proxy redacts or hashes PII before LLM requests; schema validation on all outputs (GAP-002/011).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849624"/>
            <a:ext cx="82296" cy="82296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3803904"/>
            <a:ext cx="777240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Compliance coverage: SOC 2 Type II controls mapped, certification pending; GDPR and industry-specific regulations mapped to agent actions.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16551"/>
            <a:ext cx="82296" cy="82296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" y="4370831"/>
            <a:ext cx="777240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Dashboard auth is fail-closed by default; open mode is loopback-only and must be explicitly opted in (ADR-013).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358384"/>
            <a:ext cx="73152" cy="60350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5358384"/>
            <a:ext cx="8019288" cy="60350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" y="5468112"/>
            <a:ext cx="7690104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70A40"/>
                </a:solidFill>
                <a:latin typeface="Arial"/>
              </a:rPr>
              <a:t>Security by default. Governance is enforced in code and CI, not in policy documents.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What You Get as a Studio Partner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8092440" cy="38541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737360"/>
                <a:gridCol w="37033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Scope &amp; Timing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70A40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Strategic validation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1 (Discovery)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Weeks 1–2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Proof-of-concept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2 (Validation)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Weeks 3–6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Minimum Viable Architecture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3 (Build)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Weeks 7–14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Spin-out support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4 (Scale)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Month 4+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Shared infrastructure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Ongoing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Model mesh, agent stacks, data pipelines, GTM engines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KPI dashboard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Ongoing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7-department real-time monitoring (planned)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70A40"/>
                          </a:solidFill>
                          <a:latin typeface="Arial"/>
                        </a:rPr>
                        <a:t>Governance compliance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Ongoing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6B7280"/>
                          </a:solidFill>
                          <a:latin typeface="Arial"/>
                        </a:rPr>
                        <a:t>5-tier approval, PII guardrails, CORS lockdown</a:t>
                      </a:r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98932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All Parts 1–5 shipped September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61288"/>
            <a:ext cx="329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14300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70A40"/>
                </a:solidFill>
                <a:latin typeface="Arial"/>
              </a:rPr>
              <a:t>Strategic alignment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39903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Validate thesis fit and portfolio archetype.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179576"/>
            <a:ext cx="96012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77639" y="1225296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60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84248"/>
            <a:ext cx="329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6596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70A40"/>
                </a:solidFill>
                <a:latin typeface="Arial"/>
              </a:rPr>
              <a:t>Discovery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221991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Problem discovery and thesis definition.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39" y="2002536"/>
            <a:ext cx="96012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2048255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2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07208"/>
            <a:ext cx="329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70A40"/>
                </a:solidFill>
                <a:latin typeface="Arial"/>
              </a:rPr>
              <a:t>Buyer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04495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Structured calls across target accounts.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825496"/>
            <a:ext cx="96012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871215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15–20 calls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630168"/>
            <a:ext cx="329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61188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70A40"/>
                </a:solidFill>
                <a:latin typeface="Arial"/>
              </a:rPr>
              <a:t>Go / No-Go 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6791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Based on positive commitments and technical feasibility.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7639" y="3648456"/>
            <a:ext cx="96012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3694176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After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53127"/>
            <a:ext cx="3291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070A40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43484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70A40"/>
                </a:solidFill>
                <a:latin typeface="Arial"/>
              </a:rPr>
              <a:t>Spin-out execution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6908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Dedicated leadership, capitalization, and studio transition.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4471416"/>
            <a:ext cx="96012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77639" y="4517136"/>
            <a:ext cx="9601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070A40"/>
                </a:solidFill>
                <a:latin typeface="Arial"/>
              </a:rPr>
              <a:t>Month 4+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57800" y="1143000"/>
            <a:ext cx="3429000" cy="13716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1280160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00BFFF"/>
                </a:solidFill>
                <a:latin typeface="Arial"/>
              </a:rPr>
              <a:t>Contact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15544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Chief of Staff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680" y="1883664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Lightspeed Holdings Limited™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697480"/>
            <a:ext cx="3429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AI Venture Studio Execution Plan Parts 1–5 (September 2026)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349240"/>
            <a:ext cx="80924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This presentation is based on the AI Venture Studio execution plan documented in brand/ai_venture_studio_execution_plan.md and docs/venture-studio/. All Parts 1–5 shipped September 2026. AI-agnostic: works with any LLM provider (OpenAI, Anthropic, DeepSeek, local Ollama). Malawi-first constraint-export pattern applies.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38160" y="63642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57200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 i="0">
                <a:solidFill>
                  <a:srgbClr val="070A40"/>
                </a:solidFill>
                <a:latin typeface="Arial"/>
              </a:rPr>
              <a:t>Brand Compliance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97864"/>
            <a:ext cx="100584" cy="100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14300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070A40"/>
                </a:solidFill>
                <a:latin typeface="Arial"/>
              </a:rPr>
              <a:t>Logo from official assets, never recreated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197864"/>
            <a:ext cx="100584" cy="100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92624" y="114300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070A40"/>
                </a:solidFill>
                <a:latin typeface="Arial"/>
              </a:rPr>
              <a:t>Logo clear space respected (1× "L" height on all sides)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249424"/>
            <a:ext cx="100584" cy="100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19456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070A40"/>
                </a:solidFill>
                <a:latin typeface="Arial"/>
              </a:rPr>
              <a:t>Only palette colors used (navy #070A40, red #E63946, cyan #00BFFF, grey-light #F2F2F2, white #FFFFFF)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249424"/>
            <a:ext cx="100584" cy="100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219456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070A40"/>
                </a:solidFill>
                <a:latin typeface="Arial"/>
              </a:rPr>
              <a:t>Vector format for print; transparent treatment on dark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300984"/>
            <a:ext cx="100584" cy="100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2461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070A40"/>
                </a:solidFill>
                <a:latin typeface="Arial"/>
              </a:rPr>
              <a:t>™ on first mention of the company 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300984"/>
            <a:ext cx="100584" cy="100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2624" y="32461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070A40"/>
                </a:solidFill>
                <a:latin typeface="Arial"/>
              </a:rPr>
              <a:t>Type sizes from the brand scale in brand-tokens.json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352543"/>
            <a:ext cx="100584" cy="100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4297679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070A40"/>
                </a:solidFill>
                <a:latin typeface="Arial"/>
              </a:rPr>
              <a:t>Spacing multiples of 4px (base unit)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4352543"/>
            <a:ext cx="100584" cy="100584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297679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070A40"/>
                </a:solidFill>
                <a:latin typeface="Arial"/>
              </a:rPr>
              <a:t>Tagline spelled exactly "ASPIRE. ACT. ACHIEVE."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8932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Any deviation requires a documented brand decision approved by the Brand Strategist / CMO.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011680"/>
            <a:ext cx="80924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3017520"/>
            <a:ext cx="1463040" cy="36576"/>
          </a:xfrm>
          <a:prstGeom prst="rect">
            <a:avLst/>
          </a:prstGeom>
          <a:solidFill>
            <a:srgbClr val="00B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full.png"/>
          <p:cNvPicPr>
            <a:picLocks noChangeAspect="1"/>
          </p:cNvPicPr>
          <p:nvPr/>
        </p:nvPicPr>
        <p:blipFill>
          <a:blip r:embed="rId2">
            <a:clrChange useAlpha="1">
              <a:clrFrom>
                <a:srgbClr val="02062F">
                  <a:alpha val="100000"/>
                </a:srgbClr>
              </a:clrFrom>
              <a:clrTo>
                <a:srgbClr val="02062F">
                  <a:alpha val="0"/>
                </a:srgbClr>
              </a:clrTo>
            </a:clrChange>
          </a:blip>
          <a:srcRect l="15152" r="14673" t="18501" b="24641"/>
          <a:stretch>
            <a:fillRect/>
          </a:stretch>
        </p:blipFill>
        <p:spPr>
          <a:xfrm>
            <a:off x="3000894" y="3033314"/>
            <a:ext cx="3127248" cy="3127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5705856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0" i="0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