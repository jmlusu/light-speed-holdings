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Cover. LightSpeed Holdings Limited(TM) lockup top-left, deck title, red accent rule. No tagline on this slide; the tagline appears once, on the closing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Walk the five shipped parts, then land the point: this is one repeatable engine, not five separate projects. Note that some parts are internal milestones.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engine, three delivery portfolios. The left column is the engine; the right blocks are the constraint-first design principles that keep a portfolio buildable inside real limits.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archetypes, one engine. Emphasise that D was added on technical validation, and that the four reservations apply to all four archetypes.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gates, each with a hard criterion. The point for a client is that capital is only released after a gate is cleared, not on a calendar.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interface, one guardrail, one routing point. The stack is AI-agnostic: it works with any LLM provider and with local models. Red is used only for the PII directive.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Four metrics, each mapped to a CFO KPI. Be explicit that 3-5x is a modeled estimate, and that velocity is measured from validation approval, not from idea.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Lead with the empty category, not with a first-mover boast: no direct local equivalent was identified. The acquisition path is discovery calls, design partners, spin-out, support.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Governance is concrete: five approval tiers, an explicit CORS allowlist, a PII proxy, and fail-closed auth. Two claims are worth spelling out: never a wildcard, and deny by default.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commercial summary: one table, phased, with the ongoing layer called out separately from the gated deliverables.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Close on the next five moves. The first is a decision, not a workshop: a 60-minute alignment call that picks the archetype.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Appendix: the checklist used to sign this deck off against brand guidelines section 9. Deviations are documented, not silent.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Closing. Full navy, official lockup, cyan tagline. No new content on this slide.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ai-venture-studio-lockup-880x713.png"/>
          <p:cNvPicPr>
            <a:picLocks noChangeAspect="1"/>
          </p:cNvPicPr>
          <p:nvPr/>
        </p:nvPicPr>
        <p:blipFill>
          <a:blip r:embed="rId2">
            <a:clrChange useAlpha="1">
              <a:clrFrom>
                <a:srgbClr val="02062F">
                  <a:alpha val="100000"/>
                </a:srgbClr>
              </a:clrFrom>
              <a:clrTo>
                <a:srgbClr val="02062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594360" y="502920"/>
            <a:ext cx="1737360" cy="1407656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94360" y="2286000"/>
            <a:ext cx="7315200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AI Venture Studio</a:t>
            </a:r>
          </a:p>
        </p:txBody>
      </p:sp>
      <p:sp>
        <p:nvSpPr>
          <p:cNvPr id="4" name="Rectangle 3"/>
          <p:cNvSpPr/>
          <p:nvPr/>
        </p:nvSpPr>
        <p:spPr>
          <a:xfrm>
            <a:off x="594360" y="3611880"/>
            <a:ext cx="822960" cy="3657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3017520" y="6217920"/>
            <a:ext cx="310896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F2F2F2"/>
                </a:solidFill>
                <a:latin typeface="Arial"/>
              </a:rPr>
              <a:t>Client Presentation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92240" y="62179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F2F2F2"/>
                </a:solidFill>
                <a:latin typeface="Arial"/>
              </a:rPr>
              <a:t>2026-10-12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Executive Summary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88720"/>
          <a:ext cx="8092440" cy="208483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60120"/>
                <a:gridCol w="1051560"/>
                <a:gridCol w="6080760"/>
              </a:tblGrid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Part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Delivered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Core Deliverable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Website brand psychology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Sector landscape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AI-Company Builder engine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Technical architecture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347472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5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Shipped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Core metrics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3520440"/>
            <a:ext cx="3931920" cy="18288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Since shipping Parts 1–5 in September 2026, the studio has delivered a stage-gated, repeatable engine: shared infrastructure, agent stacks, data pipelines, and go-to-market engines that co-found, validate, build, and launch AI-native entities.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3520440"/>
            <a:ext cx="54864" cy="1737360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4809744" y="3520440"/>
            <a:ext cx="3877056" cy="173736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5029200" y="3685032"/>
            <a:ext cx="3474720" cy="25603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Why it matters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3995928"/>
            <a:ext cx="3474720" cy="10972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Each venture gets access to capital-efficient infrastructure, governance that scales without chaos, and a clear path from thesis to spin-out.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94360" y="598932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Parts 1–5 shipped September 2026. Several are internal build milestones, not client deliverables.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The Studio Operating Engine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3017520" cy="21488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3017520" cy="310896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22376" y="1207008"/>
            <a:ext cx="2743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Studio Operating Engine</a:t>
            </a:r>
          </a:p>
        </p:txBody>
      </p:sp>
      <p:sp>
        <p:nvSpPr>
          <p:cNvPr id="8" name="Rectangle 7"/>
          <p:cNvSpPr/>
          <p:nvPr/>
        </p:nvSpPr>
        <p:spPr>
          <a:xfrm>
            <a:off x="722376" y="1545336"/>
            <a:ext cx="276148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682495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Strategic Validation</a:t>
            </a:r>
          </a:p>
        </p:txBody>
      </p:sp>
      <p:sp>
        <p:nvSpPr>
          <p:cNvPr id="10" name="Rectangle 9"/>
          <p:cNvSpPr/>
          <p:nvPr/>
        </p:nvSpPr>
        <p:spPr>
          <a:xfrm>
            <a:off x="722376" y="2112264"/>
            <a:ext cx="276148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0392" y="2249424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Agent Orchestration</a:t>
            </a:r>
          </a:p>
        </p:txBody>
      </p:sp>
      <p:sp>
        <p:nvSpPr>
          <p:cNvPr id="12" name="Rectangle 11"/>
          <p:cNvSpPr/>
          <p:nvPr/>
        </p:nvSpPr>
        <p:spPr>
          <a:xfrm>
            <a:off x="722376" y="2679191"/>
            <a:ext cx="2761488" cy="475488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50392" y="2816351"/>
            <a:ext cx="25603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Shared Services</a:t>
            </a:r>
          </a:p>
        </p:txBody>
      </p:sp>
      <p:sp>
        <p:nvSpPr>
          <p:cNvPr id="14" name="Right Arrow 13"/>
          <p:cNvSpPr/>
          <p:nvPr/>
        </p:nvSpPr>
        <p:spPr>
          <a:xfrm>
            <a:off x="3675887" y="2103120"/>
            <a:ext cx="502920" cy="237744"/>
          </a:xfrm>
          <a:prstGeom prst="rightArrow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43400" y="1143000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70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462272" y="119786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Portfolio 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62272" y="141732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Enterprise Agent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343400" y="1874519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70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4462272" y="192938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Portfolio B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62272" y="2148839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E63946"/>
                </a:solidFill>
                <a:latin typeface="Arial"/>
              </a:rPr>
              <a:t>B2B</a:t>
            </a:r>
            <a:r>
              <a:rPr sz="1200" b="0" i="0">
                <a:solidFill>
                  <a:srgbClr val="6B7280"/>
                </a:solidFill>
                <a:latin typeface="Arial"/>
              </a:rPr>
              <a:t> AI Workflow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343400" y="2606040"/>
            <a:ext cx="1828800" cy="603504"/>
          </a:xfrm>
          <a:prstGeom prst="rect">
            <a:avLst/>
          </a:prstGeom>
          <a:solidFill>
            <a:srgbClr val="FFFFFF"/>
          </a:solidFill>
          <a:ln w="9525">
            <a:solidFill>
              <a:srgbClr val="070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2660904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Portfolio 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2880360"/>
            <a:ext cx="16459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0BFFF"/>
                </a:solidFill>
                <a:latin typeface="Arial"/>
              </a:rPr>
              <a:t>Sovereign</a:t>
            </a:r>
            <a:r>
              <a:rPr sz="1200" b="0" i="0">
                <a:solidFill>
                  <a:srgbClr val="6B7280"/>
                </a:solidFill>
                <a:latin typeface="Arial"/>
              </a:rPr>
              <a:t> Data</a:t>
            </a:r>
          </a:p>
        </p:txBody>
      </p:sp>
      <p:sp>
        <p:nvSpPr>
          <p:cNvPr id="24" name="Rectangle 23"/>
          <p:cNvSpPr/>
          <p:nvPr/>
        </p:nvSpPr>
        <p:spPr>
          <a:xfrm>
            <a:off x="6355080" y="1143000"/>
            <a:ext cx="1078992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6446520" y="127101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446520" y="1472184"/>
            <a:ext cx="8961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Constraint-first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7525512" y="1143000"/>
            <a:ext cx="1078992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7616952" y="127101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7616952" y="1472184"/>
            <a:ext cx="8961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AI-agnostic</a:t>
            </a:r>
          </a:p>
        </p:txBody>
      </p:sp>
      <p:sp>
        <p:nvSpPr>
          <p:cNvPr id="30" name="Rectangle 29"/>
          <p:cNvSpPr/>
          <p:nvPr/>
        </p:nvSpPr>
        <p:spPr>
          <a:xfrm>
            <a:off x="6355080" y="2240280"/>
            <a:ext cx="1078992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6446520" y="236829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446520" y="2569464"/>
            <a:ext cx="8961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PII-first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7525512" y="2240280"/>
            <a:ext cx="1078992" cy="98755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7616952" y="236829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616952" y="2569464"/>
            <a:ext cx="896112" cy="5486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Capital-efficient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594360" y="3611880"/>
            <a:ext cx="25420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740664" y="3712463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Portfolio A — Enterprise Agent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740664" y="4151376"/>
            <a:ext cx="2249424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Deep workflow integration inside a single large organisation.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3319272" y="3611880"/>
            <a:ext cx="25420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3465576" y="3712463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Portfolio B — B2B AI Workflow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65576" y="4151376"/>
            <a:ext cx="2249424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Vertical AI fine-tuned on a sector's recurring workflow.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6044184" y="3611880"/>
            <a:ext cx="2542032" cy="14173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6190488" y="3712463"/>
            <a:ext cx="224942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Portfolio C — Sovereign Data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90488" y="4151376"/>
            <a:ext cx="2249424" cy="78638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On-prem / sovereign deployment where data cannot leave jurisdiction.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594360" y="598932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“Three” (Portfolios A–C) and “four” (reservations) are distinct frameworks, not a count error.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Portfolio Archetypes A–D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8516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94360" y="1143000"/>
            <a:ext cx="1851660" cy="384048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234440"/>
            <a:ext cx="16322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Portfolio 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1709928"/>
            <a:ext cx="16322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Enterprise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04088" y="2350008"/>
            <a:ext cx="1632204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Deep workflow integration for large organisations; long sales cycles, high contract value.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04088" y="3685031"/>
            <a:ext cx="1632204" cy="3291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04088" y="377647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Frontier tier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628900" y="1143000"/>
            <a:ext cx="18516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2628900" y="1143000"/>
            <a:ext cx="1851660" cy="384048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38628" y="1234440"/>
            <a:ext cx="16322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Portfolio B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38628" y="1709928"/>
            <a:ext cx="16322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B2B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738628" y="2350008"/>
            <a:ext cx="1632204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E63946"/>
                </a:solidFill>
                <a:latin typeface="Arial"/>
              </a:rPr>
              <a:t>Vertical AI fine-tuned</a:t>
            </a:r>
            <a:r>
              <a:rPr sz="1200" b="0" i="0">
                <a:solidFill>
                  <a:srgbClr val="6B7280"/>
                </a:solidFill>
                <a:latin typeface="Arial"/>
              </a:rPr>
              <a:t> on sector workflows, sold to operators who already own the process.</a:t>
            </a:r>
          </a:p>
        </p:txBody>
      </p:sp>
      <p:sp>
        <p:nvSpPr>
          <p:cNvPr id="17" name="Rectangle 16"/>
          <p:cNvSpPr/>
          <p:nvPr/>
        </p:nvSpPr>
        <p:spPr>
          <a:xfrm>
            <a:off x="2738628" y="3685031"/>
            <a:ext cx="1632204" cy="3291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2738628" y="377647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Fine-tuned tier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663440" y="1143000"/>
            <a:ext cx="18516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4663440" y="1143000"/>
            <a:ext cx="1851660" cy="384048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773168" y="1234440"/>
            <a:ext cx="16322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Portfolio 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773168" y="1709928"/>
            <a:ext cx="16322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Sovereign Data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73168" y="2350008"/>
            <a:ext cx="1632204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0BFFF"/>
                </a:solidFill>
                <a:latin typeface="Arial"/>
              </a:rPr>
              <a:t>On-prem / sovereign</a:t>
            </a:r>
            <a:r>
              <a:rPr sz="1200" b="0" i="0">
                <a:solidFill>
                  <a:srgbClr val="6B7280"/>
                </a:solidFill>
                <a:latin typeface="Arial"/>
              </a:rPr>
              <a:t> deployment where regulated data cannot leave the jurisdiction.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4773168" y="3685031"/>
            <a:ext cx="1632204" cy="3291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773168" y="377647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Sovereign tier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697980" y="1143000"/>
            <a:ext cx="1851660" cy="3017520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97980" y="1143000"/>
            <a:ext cx="1851660" cy="384048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6807708" y="1234440"/>
            <a:ext cx="1632204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Portfolio 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807708" y="1709928"/>
            <a:ext cx="1632204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Consumer Platforms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6807708" y="2350008"/>
            <a:ext cx="1632204" cy="1261872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0BFFF"/>
                </a:solidFill>
                <a:latin typeface="Arial"/>
              </a:rPr>
              <a:t>High-volume, low-latency</a:t>
            </a:r>
            <a:r>
              <a:rPr sz="1200" b="0" i="0">
                <a:solidFill>
                  <a:srgbClr val="6B7280"/>
                </a:solidFill>
                <a:latin typeface="Arial"/>
              </a:rPr>
              <a:t> consumer surfaces where unit cost decides the business model.</a:t>
            </a:r>
          </a:p>
        </p:txBody>
      </p:sp>
      <p:sp>
        <p:nvSpPr>
          <p:cNvPr id="31" name="Rectangle 30"/>
          <p:cNvSpPr/>
          <p:nvPr/>
        </p:nvSpPr>
        <p:spPr>
          <a:xfrm>
            <a:off x="6807708" y="3685031"/>
            <a:ext cx="1632204" cy="32918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6807708" y="3776472"/>
            <a:ext cx="1632204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Cost-cascaded tier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94360" y="4370832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Four reservations, applied to every archetype</a:t>
            </a:r>
          </a:p>
        </p:txBody>
      </p:sp>
      <p:sp>
        <p:nvSpPr>
          <p:cNvPr id="34" name="Rectangle 33"/>
          <p:cNvSpPr/>
          <p:nvPr/>
        </p:nvSpPr>
        <p:spPr>
          <a:xfrm>
            <a:off x="594360" y="4663440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777240" y="460857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Constraint-first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628900" y="4663440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811780" y="460857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AI-agnostic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4663440" y="4663440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4846320" y="460857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PII-first</a:t>
            </a:r>
          </a:p>
        </p:txBody>
      </p:sp>
      <p:sp>
        <p:nvSpPr>
          <p:cNvPr id="40" name="Rectangle 39"/>
          <p:cNvSpPr/>
          <p:nvPr/>
        </p:nvSpPr>
        <p:spPr>
          <a:xfrm>
            <a:off x="6697980" y="4663440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1" name="TextBox 40"/>
          <p:cNvSpPr txBox="1"/>
          <p:nvPr/>
        </p:nvSpPr>
        <p:spPr>
          <a:xfrm>
            <a:off x="6880860" y="4608576"/>
            <a:ext cx="16916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Capital-efficient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594360" y="598932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Portfolio D added per CTO validation. The “three” and “four” refer to distinct frameworks.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05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Stage-Gated Development Lifecycle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8092440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417320"/>
                <a:gridCol w="868680"/>
                <a:gridCol w="3246120"/>
                <a:gridCol w="25603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Duration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Key Deliverables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Gate Criteria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1. Discovery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Weeks 1–2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Problem discovery &amp; thesis definition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3+ problem statements validated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2. Validation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Weeks 3–6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POC + 15–20 buyer calls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3+ positive commitments; feasibility confirmed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3. Build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Weeks 7–14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MVA deployed to 2–3 design partners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MVA running; ATC ≥80% gate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4. Scale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Month 4+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Spin-out, leadership recruitment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Entity formed; term sheet issued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956048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Tracked across all phases</a:t>
            </a:r>
          </a:p>
        </p:txBody>
      </p:sp>
      <p:sp>
        <p:nvSpPr>
          <p:cNvPr id="7" name="Rectangle 6"/>
          <p:cNvSpPr/>
          <p:nvPr/>
        </p:nvSpPr>
        <p:spPr>
          <a:xfrm>
            <a:off x="594360" y="5248656"/>
            <a:ext cx="192024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94360" y="53492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ATC Rate</a:t>
            </a:r>
          </a:p>
        </p:txBody>
      </p:sp>
      <p:sp>
        <p:nvSpPr>
          <p:cNvPr id="9" name="Rectangle 8"/>
          <p:cNvSpPr/>
          <p:nvPr/>
        </p:nvSpPr>
        <p:spPr>
          <a:xfrm>
            <a:off x="2628900" y="5248656"/>
            <a:ext cx="192024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2628900" y="53492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Correction Ratio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5248656"/>
            <a:ext cx="192024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663440" y="53492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Velocity to MVP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697980" y="5248656"/>
            <a:ext cx="1920240" cy="38404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697980" y="5349240"/>
            <a:ext cx="1920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Capital Efficiency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598932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Key metrics tracked across all phases. Velocity to MVP is measured from validation approval.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Technical Architecture (AI-Agnostic System)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8092440" cy="420624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40664" y="1243584"/>
            <a:ext cx="7799831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L1 · Unified API Standard — one interface for every model provider</a:t>
            </a:r>
          </a:p>
        </p:txBody>
      </p:sp>
      <p:sp>
        <p:nvSpPr>
          <p:cNvPr id="7" name="Down Arrow 6"/>
          <p:cNvSpPr/>
          <p:nvPr/>
        </p:nvSpPr>
        <p:spPr>
          <a:xfrm>
            <a:off x="4480560" y="1600200"/>
            <a:ext cx="182880" cy="201168"/>
          </a:xfrm>
          <a:prstGeom prst="downArrow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ectangle 7"/>
          <p:cNvSpPr/>
          <p:nvPr/>
        </p:nvSpPr>
        <p:spPr>
          <a:xfrm>
            <a:off x="594360" y="1810512"/>
            <a:ext cx="2514600" cy="7132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85800" y="1883664"/>
            <a:ext cx="23317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Guardrail Proxy (inbound)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85800" y="2121408"/>
            <a:ext cx="233172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Redacts or hashes PII; validates schema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310128" y="1810512"/>
            <a:ext cx="2331720" cy="7132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401568" y="1883664"/>
            <a:ext cx="2148839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Cost / Latency Router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01568" y="2121408"/>
            <a:ext cx="2148839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The only fan-out point in the mesh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5843016" y="1810512"/>
            <a:ext cx="1783080" cy="713232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934455" y="1883664"/>
            <a:ext cx="16002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Fallback Chains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934455" y="2121408"/>
            <a:ext cx="1600200" cy="38404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Deterministic retry and failover</a:t>
            </a:r>
          </a:p>
        </p:txBody>
      </p:sp>
      <p:sp>
        <p:nvSpPr>
          <p:cNvPr id="17" name="Right Arrow 16"/>
          <p:cNvSpPr/>
          <p:nvPr/>
        </p:nvSpPr>
        <p:spPr>
          <a:xfrm>
            <a:off x="3127248" y="2084831"/>
            <a:ext cx="201168" cy="164592"/>
          </a:xfrm>
          <a:prstGeom prst="rightArrow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ight Arrow 17"/>
          <p:cNvSpPr/>
          <p:nvPr/>
        </p:nvSpPr>
        <p:spPr>
          <a:xfrm>
            <a:off x="5660136" y="2084831"/>
            <a:ext cx="201168" cy="164592"/>
          </a:xfrm>
          <a:prstGeom prst="rightArrow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Down Arrow 18"/>
          <p:cNvSpPr/>
          <p:nvPr/>
        </p:nvSpPr>
        <p:spPr>
          <a:xfrm>
            <a:off x="4480560" y="2578608"/>
            <a:ext cx="182880" cy="201168"/>
          </a:xfrm>
          <a:prstGeom prst="downArrow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594360" y="2816352"/>
            <a:ext cx="25420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070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04088" y="2880360"/>
            <a:ext cx="232257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Frontier models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04088" y="310896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Highest capability, highest unit cost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319272" y="2816352"/>
            <a:ext cx="25420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070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429000" y="2880360"/>
            <a:ext cx="232257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Open-weights models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429000" y="310896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Fine-tuned, self-hosted, margin control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6044184" y="2816352"/>
            <a:ext cx="2542032" cy="676656"/>
          </a:xfrm>
          <a:prstGeom prst="rect">
            <a:avLst/>
          </a:prstGeom>
          <a:solidFill>
            <a:srgbClr val="FFFFFF"/>
          </a:solidFill>
          <a:ln w="9525">
            <a:solidFill>
              <a:srgbClr val="070A4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153912" y="2880360"/>
            <a:ext cx="2322576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Local / Sovereign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6153912" y="3108960"/>
            <a:ext cx="2322576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On-prem or in-jurisdiction deployment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94360" y="3639312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Engineering directives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94360" y="3913632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01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68680" y="39136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Universal Protocol Proxy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68680" y="41330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Every provider speaks one contract; swapping a model is a config change.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4754880" y="3913632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02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0" y="3913632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Model Cascade &amp; Dynamic Router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029200" y="4133088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Route by cost and latency budget, escalate only when quality demands it.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94360" y="462686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03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68680" y="46268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Deterministic Execution &amp; State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68680" y="484632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Every agent action is logged, replayable, and attributable.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4754880" y="4626864"/>
            <a:ext cx="256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04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5029200" y="4626864"/>
            <a:ext cx="365760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Security &amp; PII Guardrails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5029200" y="4846320"/>
            <a:ext cx="365760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Nothing reaches a model before redaction and schema validation.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594360" y="5468112"/>
            <a:ext cx="73152" cy="566928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667512" y="5468112"/>
            <a:ext cx="8019288" cy="566928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832104" y="5577840"/>
            <a:ext cx="7690104" cy="3657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The intermediary proxy layer redacts or hashes PII before every LLM request, and validates schema on all outputs.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07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Core Performance Metrics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8092440" cy="331012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691640"/>
                <a:gridCol w="1417320"/>
                <a:gridCol w="2377440"/>
                <a:gridCol w="2606040"/>
              </a:tblGrid>
              <a:tr h="3840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Metric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Goal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Why It Matters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CFO KPI Mapping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ATC Rate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≥90% trailing 30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Autonomous agent efficacy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Cost per Agent; ROI per Dept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Velocity to MVP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&lt;60 days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Speed-to-market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Budget Utilization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Manual Correction Ratio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Per 1,000 actions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Quality signal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Revenue per Task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73152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Capital Efficiency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3–5× (modeled)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Shared infrastructure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Cost per Agent; Budget Utilization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4663440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Studio vs. company KPIs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4360" y="4901184"/>
            <a:ext cx="254203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Studio metrics measure delivery. CFO registry KPIs: Budget Utilization, Cost per Agent, ROI per Dept, Total Revenue, Revenue Margin, Revenue per Task.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364991" y="4663440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Velocity scope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64991" y="4901184"/>
            <a:ext cx="254203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The &lt;60-day goal measures Phase 2 validation approval to Phase 3 minimal MVP deployment, not idea to revenue.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35624" y="4663440"/>
            <a:ext cx="2542032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3–5× basis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35624" y="4901184"/>
            <a:ext cx="2542032" cy="10058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Modeled estimate from traditional seed-round cost structures versus shared-infrastructure economics. Assumptions available on request.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08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Go-to-Market &amp; Client Acquisition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43000"/>
            <a:ext cx="356616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Target industries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1444752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0BFFF"/>
                </a:solidFill>
                <a:latin typeface="Arial"/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8680" y="1444752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Healthcare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94360" y="1865376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0BFFF"/>
                </a:solidFill>
                <a:latin typeface="Arial"/>
              </a:rPr>
              <a:t>2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1865376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Finance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2286000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0BFFF"/>
                </a:solidFill>
                <a:latin typeface="Arial"/>
              </a:rPr>
              <a:t>3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286000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Government &amp; Public Policy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94360" y="2706624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0BFFF"/>
                </a:solidFill>
                <a:latin typeface="Arial"/>
              </a:rPr>
              <a:t>4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" y="2706624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Donor &amp; Non-Profit Sector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3127248"/>
            <a:ext cx="2743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0BFFF"/>
                </a:solidFill>
                <a:latin typeface="Arial"/>
              </a:rPr>
              <a:t>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" y="3127248"/>
            <a:ext cx="32461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Academia &amp; Education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4526280" y="1143000"/>
            <a:ext cx="4160520" cy="146304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681728" y="1261872"/>
            <a:ext cx="3840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Competitive landscape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81728" y="1517904"/>
            <a:ext cx="3840480" cy="82296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The “AI company builder” category has </a:t>
            </a:r>
            <a:r>
              <a:rPr sz="1200" b="1" i="0">
                <a:solidFill>
                  <a:srgbClr val="00BFFF"/>
                </a:solidFill>
                <a:latin typeface="Arial"/>
              </a:rPr>
              <a:t>no direct local equivalent identified</a:t>
            </a:r>
            <a:r>
              <a:rPr sz="1200" b="0" i="0">
                <a:solidFill>
                  <a:srgbClr val="6B7280"/>
                </a:solidFill>
                <a:latin typeface="Arial"/>
              </a:rPr>
              <a:t>.</a:t>
            </a:r>
          </a:p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Key players: BCG, Deloitte Africa, Accenture, Qhala.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26280" y="2761488"/>
            <a:ext cx="416052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Client acquisition model</a:t>
            </a:r>
          </a:p>
        </p:txBody>
      </p:sp>
      <p:sp>
        <p:nvSpPr>
          <p:cNvPr id="20" name="Rectangle 19"/>
          <p:cNvSpPr/>
          <p:nvPr/>
        </p:nvSpPr>
        <p:spPr>
          <a:xfrm>
            <a:off x="4526280" y="3035808"/>
            <a:ext cx="4160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636008" y="310896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1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892040" y="3108960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15–20 buyer discovery calls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4526280" y="3447288"/>
            <a:ext cx="4160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4636008" y="352044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2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92040" y="3520440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Design partner program (2–3)</a:t>
            </a:r>
          </a:p>
        </p:txBody>
      </p:sp>
      <p:sp>
        <p:nvSpPr>
          <p:cNvPr id="26" name="Rectangle 25"/>
          <p:cNvSpPr/>
          <p:nvPr/>
        </p:nvSpPr>
        <p:spPr>
          <a:xfrm>
            <a:off x="4526280" y="3858768"/>
            <a:ext cx="4160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4636008" y="393192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3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892040" y="3931920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Spin-out with dedicated leadership</a:t>
            </a:r>
          </a:p>
        </p:txBody>
      </p:sp>
      <p:sp>
        <p:nvSpPr>
          <p:cNvPr id="29" name="Rectangle 28"/>
          <p:cNvSpPr/>
          <p:nvPr/>
        </p:nvSpPr>
        <p:spPr>
          <a:xfrm>
            <a:off x="4526280" y="4270248"/>
            <a:ext cx="4160520" cy="347472"/>
          </a:xfrm>
          <a:prstGeom prst="rect">
            <a:avLst/>
          </a:prstGeom>
          <a:solidFill>
            <a:srgbClr val="FFFFFF"/>
          </a:solidFill>
          <a:ln w="9525">
            <a:solidFill>
              <a:srgbClr val="F2F2F2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4636008" y="4343400"/>
            <a:ext cx="274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E63946"/>
                </a:solidFill>
                <a:latin typeface="Arial"/>
              </a:rPr>
              <a:t>4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892040" y="4343400"/>
            <a:ext cx="37033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Ongoing studio support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94360" y="4718304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Four reservations, applied to every client engagement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94360" y="506577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777240" y="5029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Constraint-first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2377440" y="502920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Design inside real bandwidth, budget, and data limits.</a:t>
            </a:r>
          </a:p>
        </p:txBody>
      </p:sp>
      <p:sp>
        <p:nvSpPr>
          <p:cNvPr id="36" name="Rectangle 35"/>
          <p:cNvSpPr/>
          <p:nvPr/>
        </p:nvSpPr>
        <p:spPr>
          <a:xfrm>
            <a:off x="4663440" y="506577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4846320" y="5029200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AI-agnostic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6446520" y="5029200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Any provider, including local models.</a:t>
            </a:r>
          </a:p>
        </p:txBody>
      </p:sp>
      <p:sp>
        <p:nvSpPr>
          <p:cNvPr id="39" name="Rectangle 38"/>
          <p:cNvSpPr/>
          <p:nvPr/>
        </p:nvSpPr>
        <p:spPr>
          <a:xfrm>
            <a:off x="594360" y="5577840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777240" y="554126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PII-first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2377440" y="5541264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Redaction before inference, by default.</a:t>
            </a:r>
          </a:p>
        </p:txBody>
      </p:sp>
      <p:sp>
        <p:nvSpPr>
          <p:cNvPr id="42" name="Rectangle 41"/>
          <p:cNvSpPr/>
          <p:nvPr/>
        </p:nvSpPr>
        <p:spPr>
          <a:xfrm>
            <a:off x="4663440" y="5577840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43" name="TextBox 42"/>
          <p:cNvSpPr txBox="1"/>
          <p:nvPr/>
        </p:nvSpPr>
        <p:spPr>
          <a:xfrm>
            <a:off x="4846320" y="554126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Capital-efficient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446520" y="5541264"/>
            <a:ext cx="2148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Shared infrastructure instead of duplicated builds.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09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Governance &amp; Compliance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43000"/>
            <a:ext cx="1554480" cy="512064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1289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Tier 1</a:t>
            </a:r>
          </a:p>
        </p:txBody>
      </p:sp>
      <p:sp>
        <p:nvSpPr>
          <p:cNvPr id="7" name="Rectangle 6"/>
          <p:cNvSpPr/>
          <p:nvPr/>
        </p:nvSpPr>
        <p:spPr>
          <a:xfrm>
            <a:off x="2231136" y="1143000"/>
            <a:ext cx="1554480" cy="512064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2231136" y="1289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Tier 2</a:t>
            </a:r>
          </a:p>
        </p:txBody>
      </p:sp>
      <p:sp>
        <p:nvSpPr>
          <p:cNvPr id="9" name="Rectangle 8"/>
          <p:cNvSpPr/>
          <p:nvPr/>
        </p:nvSpPr>
        <p:spPr>
          <a:xfrm>
            <a:off x="3867912" y="1143000"/>
            <a:ext cx="1554480" cy="512064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3867912" y="1289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Tier 3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504688" y="1143000"/>
            <a:ext cx="1554480" cy="512064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504688" y="1289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Tier 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7141464" y="1143000"/>
            <a:ext cx="1554480" cy="512064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141464" y="1289304"/>
            <a:ext cx="155448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FFFFFF"/>
                </a:solidFill>
                <a:latin typeface="Arial"/>
              </a:rPr>
              <a:t>Tier 5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1737360"/>
            <a:ext cx="80924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5-tier approval matrix (GAP-003): every privileged tool call passes tier gating before execution.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94360" y="2148839"/>
            <a:ext cx="82296" cy="82296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3816" y="2103120"/>
            <a:ext cx="7772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Deny by default. Assume breach. Every finding gets a severity rating and a remediation timeline.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94360" y="2715768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13816" y="2670048"/>
            <a:ext cx="7772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Dashboard CORS: explicit allowlist, </a:t>
            </a:r>
            <a:r>
              <a:rPr sz="1300" b="1" i="0">
                <a:solidFill>
                  <a:srgbClr val="E63946"/>
                </a:solidFill>
                <a:latin typeface="Arial"/>
              </a:rPr>
              <a:t>never wildcard</a:t>
            </a:r>
            <a:r>
              <a:rPr sz="1300" b="0" i="0">
                <a:solidFill>
                  <a:srgbClr val="6B7280"/>
                </a:solidFill>
                <a:latin typeface="Arial"/>
              </a:rPr>
              <a:t> (GAP-010/011).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94360" y="3282696"/>
            <a:ext cx="82296" cy="82296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3816" y="3236976"/>
            <a:ext cx="7772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PII guardrails: the proxy redacts or hashes PII before LLM requests; schema validation on all outputs (GAP-002/011).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94360" y="3849624"/>
            <a:ext cx="82296" cy="82296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13816" y="3803904"/>
            <a:ext cx="7772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Compliance coverage: SOC 2 Type II controls mapped, certification pending; GDPR and industry-specific regulations mapped to agent actions.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94360" y="4416551"/>
            <a:ext cx="82296" cy="82296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3816" y="4370831"/>
            <a:ext cx="7772400" cy="51206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6B7280"/>
                </a:solidFill>
                <a:latin typeface="Arial"/>
              </a:rPr>
              <a:t>Dashboard auth is fail-closed by default; open mode is loopback-only and must be explicitly opted in (ADR-013).</a:t>
            </a:r>
          </a:p>
        </p:txBody>
      </p:sp>
      <p:sp>
        <p:nvSpPr>
          <p:cNvPr id="26" name="Rectangle 25"/>
          <p:cNvSpPr/>
          <p:nvPr/>
        </p:nvSpPr>
        <p:spPr>
          <a:xfrm>
            <a:off x="594360" y="5358384"/>
            <a:ext cx="73152" cy="60350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667512" y="5358384"/>
            <a:ext cx="8019288" cy="603504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832104" y="5468112"/>
            <a:ext cx="7690104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70A40"/>
                </a:solidFill>
                <a:latin typeface="Arial"/>
              </a:rPr>
              <a:t>Security by default. Governance is enforced in code and CI, not in policy documents.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10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What You Get as a Studio Partner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594360" y="1143000"/>
          <a:ext cx="8092440" cy="385419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2651760"/>
                <a:gridCol w="1737360"/>
                <a:gridCol w="3703320"/>
              </a:tblGrid>
              <a:tr h="365760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Deliverable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Phase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FFFFFF"/>
                          </a:solidFill>
                          <a:latin typeface="Arial"/>
                        </a:rPr>
                        <a:t>Scope &amp; Timing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070A40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Strategic validation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1 (Discovery)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Weeks 1–2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Proof-of-concept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2 (Validation)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Weeks 3–6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Minimum Viable Architecture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3 (Build)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Weeks 7–14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Spin-out support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4 (Scale)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Month 4+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Shared infrastructure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Model mesh, agent stacks, data pipelines, GTM engines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KPI dashboard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7-department real-time monitoring (planned)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2F2F2"/>
                    </a:solidFill>
                  </a:tcPr>
                </a:tc>
              </a:tr>
              <a:tr h="498348"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1">
                          <a:solidFill>
                            <a:srgbClr val="070A40"/>
                          </a:solidFill>
                          <a:latin typeface="Arial"/>
                        </a:rPr>
                        <a:t>Governance compliance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Ongoing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>
                        <a:lnSpc>
                          <a:spcPct val="100000"/>
                        </a:lnSpc>
                      </a:pPr>
                      <a:r>
                        <a:rPr sz="1200" b="0">
                          <a:solidFill>
                            <a:srgbClr val="6B7280"/>
                          </a:solidFill>
                          <a:latin typeface="Arial"/>
                        </a:rPr>
                        <a:t>5-tier approval, PII guardrails, CORS lockdown</a:t>
                      </a:r>
                    </a:p>
                  </a:txBody>
                  <a:tcPr marL="73152" marR="73152" marT="27432" marB="27432" anchor="ctr">
                    <a:lnL w="0">
                      <a:noFill/>
                    </a:lnL>
                    <a:lnR w="0">
                      <a:noFill/>
                    </a:lnR>
                    <a:lnT w="0">
                      <a:noFill/>
                    </a:lnT>
                    <a:lnB w="0">
                      <a:noFill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594360" y="598932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All Parts 1–5 shipped September 2026.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Next Steps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4360" y="116128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60120" y="114300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70A40"/>
                </a:solidFill>
                <a:latin typeface="Arial"/>
              </a:rPr>
              <a:t>Strategic alignment call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60120" y="139903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Validate thesis fit and portfolio archetype.</a:t>
            </a:r>
          </a:p>
        </p:txBody>
      </p:sp>
      <p:sp>
        <p:nvSpPr>
          <p:cNvPr id="8" name="Rectangle 7"/>
          <p:cNvSpPr/>
          <p:nvPr/>
        </p:nvSpPr>
        <p:spPr>
          <a:xfrm>
            <a:off x="3977639" y="1179576"/>
            <a:ext cx="9601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77639" y="122529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60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4360" y="198424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196596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70A40"/>
                </a:solidFill>
                <a:latin typeface="Arial"/>
              </a:rPr>
              <a:t>Discovery phase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221991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Problem discovery and thesis definition.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3977639" y="2002536"/>
            <a:ext cx="9601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3977639" y="2048255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2 weeks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94360" y="280720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" y="278892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70A40"/>
                </a:solidFill>
                <a:latin typeface="Arial"/>
              </a:rPr>
              <a:t>Buyer discovery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60120" y="304495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Structured calls across target accounts.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3977639" y="2825496"/>
            <a:ext cx="9601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3977639" y="2871215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15–20 calls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94360" y="3630168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4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60120" y="361188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70A40"/>
                </a:solidFill>
                <a:latin typeface="Arial"/>
              </a:rPr>
              <a:t>Go / No-Go decision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60120" y="386791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Based on positive commitments and technical feasibility.</a:t>
            </a:r>
          </a:p>
        </p:txBody>
      </p:sp>
      <p:sp>
        <p:nvSpPr>
          <p:cNvPr id="23" name="Rectangle 22"/>
          <p:cNvSpPr/>
          <p:nvPr/>
        </p:nvSpPr>
        <p:spPr>
          <a:xfrm>
            <a:off x="3977639" y="3648456"/>
            <a:ext cx="9601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3977639" y="369417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After gate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94360" y="4453127"/>
            <a:ext cx="329184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070A40"/>
                </a:solidFill>
                <a:latin typeface="Arial"/>
              </a:rPr>
              <a:t>5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60120" y="4434840"/>
            <a:ext cx="3017520" cy="237744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1" i="0">
                <a:solidFill>
                  <a:srgbClr val="070A40"/>
                </a:solidFill>
                <a:latin typeface="Arial"/>
              </a:rPr>
              <a:t>Spin-out execution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0120" y="4690872"/>
            <a:ext cx="3291840" cy="40233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Dedicated leadership, capitalization, and studio transition.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3977639" y="4471416"/>
            <a:ext cx="960120" cy="274320"/>
          </a:xfrm>
          <a:prstGeom prst="rect">
            <a:avLst/>
          </a:prstGeom>
          <a:solidFill>
            <a:srgbClr val="F2F2F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3977639" y="4517136"/>
            <a:ext cx="960120" cy="20116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070A40"/>
                </a:solidFill>
                <a:latin typeface="Arial"/>
              </a:rPr>
              <a:t>Month 4+</a:t>
            </a:r>
          </a:p>
        </p:txBody>
      </p:sp>
      <p:sp>
        <p:nvSpPr>
          <p:cNvPr id="30" name="Rectangle 29"/>
          <p:cNvSpPr/>
          <p:nvPr/>
        </p:nvSpPr>
        <p:spPr>
          <a:xfrm>
            <a:off x="5257800" y="1143000"/>
            <a:ext cx="3429000" cy="13716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5440680" y="1280160"/>
            <a:ext cx="3063240" cy="219456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1" i="0">
                <a:solidFill>
                  <a:srgbClr val="00BFFF"/>
                </a:solidFill>
                <a:latin typeface="Arial"/>
              </a:rPr>
              <a:t>Contact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40680" y="1554480"/>
            <a:ext cx="30632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600" b="1" i="0">
                <a:solidFill>
                  <a:srgbClr val="FFFFFF"/>
                </a:solidFill>
                <a:latin typeface="Arial"/>
              </a:rPr>
              <a:t>Chief of Staff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40680" y="1883664"/>
            <a:ext cx="3063240" cy="4572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FFFFFF"/>
                </a:solidFill>
                <a:latin typeface="Arial"/>
              </a:rPr>
              <a:t>Lightspeed Holdings Limited™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257800" y="2697480"/>
            <a:ext cx="342900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AI Venture Studio Execution Plan Parts 1–5 (September 2026)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94360" y="5349240"/>
            <a:ext cx="8092440" cy="77724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This presentation is based on the AI Venture Studio execution plan documented in brand/ai_venture_studio_execution_plan.md and docs/venture-studio/. All Parts 1–5 shipped September 2026. AI-agnostic: works with any LLM provider (OpenAI, Anthropic, DeepSeek, local Ollama). Malawi-first constraint-export pattern applies.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37160" cy="6858000"/>
          </a:xfrm>
          <a:prstGeom prst="rect">
            <a:avLst/>
          </a:prstGeom>
          <a:solidFill>
            <a:srgbClr val="070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38160" y="6364224"/>
            <a:ext cx="548640" cy="22860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r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12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457200"/>
            <a:ext cx="8092440" cy="475488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2800" b="1" i="0">
                <a:solidFill>
                  <a:srgbClr val="070A40"/>
                </a:solidFill>
                <a:latin typeface="Arial"/>
              </a:rPr>
              <a:t>Brand Compliance Checklist</a:t>
            </a:r>
          </a:p>
        </p:txBody>
      </p:sp>
      <p:sp>
        <p:nvSpPr>
          <p:cNvPr id="5" name="Rectangle 4"/>
          <p:cNvSpPr/>
          <p:nvPr/>
        </p:nvSpPr>
        <p:spPr>
          <a:xfrm>
            <a:off x="594360" y="1197864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32104" y="114300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Logo from official assets, never recreated</a:t>
            </a:r>
          </a:p>
        </p:txBody>
      </p:sp>
      <p:sp>
        <p:nvSpPr>
          <p:cNvPr id="7" name="Rectangle 6"/>
          <p:cNvSpPr/>
          <p:nvPr/>
        </p:nvSpPr>
        <p:spPr>
          <a:xfrm>
            <a:off x="4754880" y="1197864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992624" y="114300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Logo clear space respected (1× "L" height on all sides)</a:t>
            </a:r>
          </a:p>
        </p:txBody>
      </p:sp>
      <p:sp>
        <p:nvSpPr>
          <p:cNvPr id="9" name="Rectangle 8"/>
          <p:cNvSpPr/>
          <p:nvPr/>
        </p:nvSpPr>
        <p:spPr>
          <a:xfrm>
            <a:off x="594360" y="2249424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32104" y="219456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Only palette colors used (navy #070A40, red #E63946, cyan #00BFFF, grey-light #F2F2F2, white #FFFFFF)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2249424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992624" y="219456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Vector format for print; transparent treatment on dark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94360" y="3300984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2104" y="32461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™ on first mention of the company name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754880" y="3300984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992624" y="3246120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Type sizes from the brand scale in brand-tokens.json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" y="4352543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32104" y="4297679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Spacing multiples of 4px (base unit)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754880" y="4352543"/>
            <a:ext cx="100584" cy="100584"/>
          </a:xfrm>
          <a:prstGeom prst="rect">
            <a:avLst/>
          </a:prstGeom>
          <a:solidFill>
            <a:srgbClr val="E6394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992624" y="4297679"/>
            <a:ext cx="3611880" cy="86868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300" b="0" i="0">
                <a:solidFill>
                  <a:srgbClr val="070A40"/>
                </a:solidFill>
                <a:latin typeface="Arial"/>
              </a:rPr>
              <a:t>Tagline spelled exactly "ASPIRE. ACT. ACHIEVE."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94360" y="5989320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l">
              <a:lnSpc>
                <a:spcPct val="118000"/>
              </a:lnSpc>
              <a:spcAft>
                <a:spcPts val="0"/>
              </a:spcAft>
            </a:pPr>
            <a:r>
              <a:rPr sz="1200" b="0" i="0">
                <a:solidFill>
                  <a:srgbClr val="6B7280"/>
                </a:solidFill>
                <a:latin typeface="Arial"/>
              </a:rPr>
              <a:t>Any deviation requires a documented brand decision approved by the Brand Strategist / CMO.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70A4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94360" y="2011680"/>
            <a:ext cx="8092440" cy="7315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3600" b="1" i="0">
                <a:solidFill>
                  <a:srgbClr val="FFFFFF"/>
                </a:solidFill>
                <a:latin typeface="Arial"/>
              </a:rPr>
              <a:t>Thank You</a:t>
            </a:r>
          </a:p>
        </p:txBody>
      </p:sp>
      <p:sp>
        <p:nvSpPr>
          <p:cNvPr id="3" name="Rectangle 2"/>
          <p:cNvSpPr/>
          <p:nvPr/>
        </p:nvSpPr>
        <p:spPr>
          <a:xfrm>
            <a:off x="3840480" y="3017520"/>
            <a:ext cx="1463040" cy="36576"/>
          </a:xfrm>
          <a:prstGeom prst="rect">
            <a:avLst/>
          </a:prstGeom>
          <a:solidFill>
            <a:srgbClr val="00B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</a:p>
        </p:txBody>
      </p:sp>
      <p:pic>
        <p:nvPicPr>
          <p:cNvPr id="4" name="Picture 3" descr="ai-venture-studio-lockup-880x713.png"/>
          <p:cNvPicPr>
            <a:picLocks noChangeAspect="1"/>
          </p:cNvPicPr>
          <p:nvPr/>
        </p:nvPicPr>
        <p:blipFill>
          <a:blip r:embed="rId2">
            <a:clrChange useAlpha="1">
              <a:clrFrom>
                <a:srgbClr val="02062F">
                  <a:alpha val="100000"/>
                </a:srgbClr>
              </a:clrFrom>
              <a:clrTo>
                <a:srgbClr val="02062F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3474720" y="3611880"/>
            <a:ext cx="2194560" cy="1778092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594360" y="5705856"/>
            <a:ext cx="8092440" cy="274320"/>
          </a:xfrm>
          <a:prstGeom prst="rect">
            <a:avLst/>
          </a:prstGeom>
          <a:noFill/>
        </p:spPr>
        <p:txBody>
          <a:bodyPr wrap="square" lIns="0" rIns="0" tIns="0" bIns="0" anchor="t">
            <a:noAutofit/>
          </a:bodyPr>
          <a:lstStyle/>
          <a:p>
            <a:pPr algn="ctr">
              <a:lnSpc>
                <a:spcPct val="118000"/>
              </a:lnSpc>
              <a:spcAft>
                <a:spcPts val="0"/>
              </a:spcAft>
            </a:pPr>
            <a:r>
              <a:rPr sz="1600" b="0" i="0">
                <a:solidFill>
                  <a:srgbClr val="00BFFF"/>
                </a:solidFill>
                <a:latin typeface="Arial"/>
              </a:rPr>
              <a:t>ASPIRE. ACT. ACHIEVE.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