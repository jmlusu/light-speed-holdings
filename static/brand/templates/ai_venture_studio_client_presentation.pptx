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LIGHTSPEED HOLDINGS LIMITED™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AI Venture Studio — Client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18288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Arial"/>
              </a:defRPr>
            </a:pPr>
            <a:r>
              <a:t>Date: 2026-10-12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Arial"/>
              </a:defRPr>
            </a:pPr>
            <a:r>
              <a:t>Reference: AI Venture Studio Execution Plan Parts 1–5 (September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Parts Delivered: 5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Core Metrics: ATC &gt;90%, velocity to MVP &lt;60d, correction ratio, 3–5× capital efficiency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Why It Matters: Each venture gets capital-efficient infrastructure, governance that scales, and a clear path from thesis to spin-out in under 60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Arial"/>
              </a:defRPr>
            </a:pPr>
            <a:r>
              <a:t>Since shipping Parts 1–5 in September 2026, the studio has delivered a repeatable engine that co-founds, validates, builds, and launches AI-native entities using shared technical infrastructure, agent stacks, data pipelines, and go-to-market engines.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THE STUDIO OPERATING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6400800" cy="4114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t>Strategic Validation &amp; Pressure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t>Agent Orchestration &amp; Modular Core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t>Shared Services &amp; Go-To-Market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PORTFOLIO A: Enterprise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Long-horizon multi-step processes (procurement, auditing, ERP reconciliation)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PORTFOLIO B: B2B AI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Vertical AI fine-tuned on domain logic (medical reporting, legal discovery, financial underwriting)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PORTFOLIO C: Sovereign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On-prem / sovereign hosting for regulated industries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Four reservations (thesis-protecting framework): Constraint-first | AI-agnostic | PII-first | Capital-efficient (3–5×)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70A40"/>
                </a:solidFill>
                <a:latin typeface="Arial"/>
              </a:defRPr>
            </a:pPr>
            <a:r>
              <a:t>THREE PORTFOLIO ARCHETYPES (A–C) &amp; PORTFOLIO 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t>PORTFOLIO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Enterprise — Long-horizon multi-step processes (procurement, auditing, ERP reconciliation) with durable state machines and human-in-the-loop gates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474720" cy="2286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t>PORTFOLIO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B2B Workflow — Vertical AI fine-tuned on domain logic (medical reporting, legal discovery, financial underwriting) with private RAG pipelines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371600"/>
            <a:ext cx="3474720" cy="2286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t>PORTFOLIO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Sovereign Data — On-prem / sovereign hosting for regulated industries (government, finance, healthcare) with PII redacting proxy and schema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474720" cy="2286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t>PORTFOLIO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Consumer Platforms — High-volume, low-latency consumer-facing AI applications (personal assistants, education tutoring, retail recommendation systems) requiring sub-second execution, streaming UI, and edge/cost-optimized model cascading.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Note: 'Three' = portfolio archetypes (A–C); 'Four' = strategic reservations. Both integral to stage-gated lifecycle.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STAGE-GATED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1.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Problem discovery &amp; thesis definition across high-value operational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3+ problem statements validated with internal stakeholders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2.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Weeks 3–6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POC development and 15–20 structured buyer discovery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3+ positive buyer commitments; technical feasibility 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3.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Weeks 7–14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Minimum Viable Architecture (MVA) deployed into 2–3 design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MVA running in production with design partner; ATC &gt;80%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19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4.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02919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Month 4+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0291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Spin-out, dedicated leadership recruitment, institutional capitalization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291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Entity formed; leadership recruited; term sheet issued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Key metrics tracked across all phases: ATC Rate | Manual Correction Ratio | Velocity to MVP | Capital efficiency per spin-out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0A40"/>
                </a:solidFill>
                <a:latin typeface="Arial"/>
              </a:defRPr>
            </a:pPr>
            <a:r>
              <a:t>TECHNICAL ARCHITECTURE (AI-AGNOSTIC SYSTEM)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t>Model Mesh &amp; Routing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Fallback Chains → Cost/Latency Router → Guardrail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Simple tasks → low-cost/open-weights; multi-step/high-risk → frontier models only when confidence drops below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256032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Engineering Directives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6B7280"/>
                </a:solidFill>
                <a:latin typeface="Arial"/>
              </a:defRPr>
            </a:pPr>
            <a:r>
              <a:t>Universal Protocol Proxy — Single internal interface decoupling app code from providers (OpenAI, Anthropic, DeepSeek, local Ollama)</a:t>
            </a:r>
          </a:p>
          <a:p>
            <a:pPr>
              <a:spcAft>
                <a:spcPts val="600"/>
              </a:spcAft>
              <a:defRPr sz="900">
                <a:solidFill>
                  <a:srgbClr val="6B7280"/>
                </a:solidFill>
                <a:latin typeface="Arial"/>
              </a:defRPr>
            </a:pPr>
            <a:r>
              <a:t>Model Cascade &amp; Dynamic Cost Router — Simple → low-cost/open-weights; multi-step/high-risk → frontier only when confidence drops below threshold</a:t>
            </a:r>
          </a:p>
          <a:p>
            <a:pPr>
              <a:spcAft>
                <a:spcPts val="600"/>
              </a:spcAft>
              <a:defRPr sz="900">
                <a:solidFill>
                  <a:srgbClr val="6B7280"/>
                </a:solidFill>
                <a:latin typeface="Arial"/>
              </a:defRPr>
            </a:pPr>
            <a:r>
              <a:t>Deterministic Execution &amp; State Tracking — Graph/workflow orchestration decoupled from model inference using durable workers (Temporal, LangGraph)</a:t>
            </a:r>
          </a:p>
          <a:p>
            <a:pPr>
              <a:spcAft>
                <a:spcPts val="600"/>
              </a:spcAft>
              <a:defRPr sz="900">
                <a:solidFill>
                  <a:srgbClr val="6B7280"/>
                </a:solidFill>
                <a:latin typeface="Arial"/>
              </a:defRPr>
            </a:pPr>
            <a:r>
              <a:t>Security &amp; PII Guardrails — Intermediary proxy layer redacts/hashes PII before outgoing LLM requests; automated schema validation on all model outputs before database commits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804672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70A40"/>
                </a:solidFill>
                <a:latin typeface="Arial"/>
              </a:defRPr>
            </a:pPr>
            <a:r>
              <a:t>PII Guardrails: Intermediary proxy layer redacts/hashes PII before LLM requests; automated schema validation on all outputs. Navy dominance; red accent (≤10% per 80/10/10 rule).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CORE PERFORMANCE METRICS (PART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70A40"/>
                </a:solidFill>
                <a:latin typeface="Arial"/>
              </a:defRPr>
            </a:pPr>
            <a:r>
              <a:t>CFO KPI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Agentic Task Completion (ATC)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&gt;90% end-to-end execution without manual intervention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Measures autonomous agent efficacy; directly impacts capital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70A40"/>
                </a:solidFill>
                <a:latin typeface="Arial"/>
              </a:defRPr>
            </a:pPr>
            <a:r>
              <a:t>Maps to Cost per Agent &amp; ROI per Dept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Velocity to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&lt;60 days from Phase 1 thesis approval to Phase 3 customer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Speed-to-market; competitive advantage; reduces burn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774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70A40"/>
                </a:solidFill>
                <a:latin typeface="Arial"/>
              </a:defRPr>
            </a:pPr>
            <a:r>
              <a:t>Maps to Budget Utilization — faster velocity reduces burn rate and preserves runway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Manual Correction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200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Track human override count per 1,000 executed agent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004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Quality signal; identifies where guardrails or model routing need adjustment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004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70A40"/>
                </a:solidFill>
                <a:latin typeface="Arial"/>
              </a:defRPr>
            </a:pPr>
            <a:r>
              <a:t>Maps to Revenue per Task — lower correction ratios indicate higher task quality and revenue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Capital Efficiency per Spin-Out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023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3–5× capital efficiency compared to traditional seed rounds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Shared infrastructure, agent stacks, and data pipelines dramatically reduce per-venture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023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70A40"/>
                </a:solidFill>
                <a:latin typeface="Arial"/>
              </a:defRPr>
            </a:pPr>
            <a:r>
              <a:t>Maps to Cost per Agent &amp; Budget Utilization — shared services reduce marginal costs per venture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Studio-level vs. company-level KPIs: The four core metrics above are studio-level performance indicators measuring venture-creation effectiveness. The CFO's registry KPIs (Budget Utilization, Cost per Agent, ROI per Dept, Total Revenue, Revenue Margin, Revenue per Task) are company-level financial metrics tracking Lightspeed Holdings' overall health. Both frameworks are complementary and should be reported separately — studio KPIs demonstrate venture success, while company KPIs ensure organizational financial discipline.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3–5× capital efficiency derivation: Derived from comparative analysis of traditional seed-round cost structures (legal, recruiting, infrastructure setup per venture) vs. shared-infrastructure economics (model mesh, agent stacks, data pipelines amortized across portfolios). Detailed annex with baseline assumptions available on request.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&lt;60-day goal measures Phase 2 validation approval to Phase 3 minimal MVP deployment (not full 4-phase lifecycle ~22 weeks total). Targeted window captures fastest path from 'go/no-go' to customer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GO-TO-MARKET &amp; CLIENT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t>Target Industries (Part 2 sector landscape)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1. Healthcare — Clinical decision support, predictive patient monitoring, ambient clinical scribes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2. Finance — Real-time fraud detection, automated risk assessment, compliance monitoring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3. Government &amp; Public Policy — Automated constituent service delivery, tax fraud identification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4. Donor &amp; Non-Profit Sector — Predictive resource allocation, automated impact tracking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5. Academia &amp; Education — Personalized learning paths, automated grading assistance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Four Reservations (thesis-protecting framework)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63946"/>
                </a:solidFill>
                <a:latin typeface="Arial"/>
              </a:defRPr>
            </a:pPr>
            <a:r>
              <a:t>• Reservation 1: Constraint-first (Malawi constraints → global export)</a:t>
            </a:r>
          </a:p>
          <a:p>
            <a:pPr>
              <a:spcAft>
                <a:spcPts val="600"/>
              </a:spcAft>
              <a:defRPr sz="1100">
                <a:solidFill>
                  <a:srgbClr val="E63946"/>
                </a:solidFill>
                <a:latin typeface="Arial"/>
              </a:defRPr>
            </a:pPr>
            <a:r>
              <a:t>• Reservation 2: AI-agnostic (works with any LLM provider)</a:t>
            </a:r>
          </a:p>
          <a:p>
            <a:pPr>
              <a:spcAft>
                <a:spcPts val="600"/>
              </a:spcAft>
              <a:defRPr sz="1100">
                <a:solidFill>
                  <a:srgbClr val="E63946"/>
                </a:solidFill>
                <a:latin typeface="Arial"/>
              </a:defRPr>
            </a:pPr>
            <a:r>
              <a:t>• Reservation 3: PII-first (guardrails by default, not afterthought)</a:t>
            </a:r>
          </a:p>
          <a:p>
            <a:pPr>
              <a:spcAft>
                <a:spcPts val="600"/>
              </a:spcAft>
              <a:defRPr sz="1100">
                <a:solidFill>
                  <a:srgbClr val="E63946"/>
                </a:solidFill>
                <a:latin typeface="Arial"/>
              </a:defRPr>
            </a:pPr>
            <a:r>
              <a:t>• Reservation 4: Capital-efficient (3–5× improvement over traditional routes)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70A40"/>
                </a:solidFill>
                <a:latin typeface="Arial"/>
              </a:defRPr>
            </a:pPr>
            <a:r>
              <a:t>Competitive landscape snapshot (per 02-sector-positioning.md §3)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Arial"/>
              </a:defRPr>
            </a:pPr>
            <a:r>
              <a:t>"AI company builder" category is locally empty — Lightspeed Holdings is the first-mover in this configuration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Arial"/>
              </a:defRPr>
            </a:pPr>
            <a:r>
              <a:t>Key external players: BCG, Deloitte Africa, Accenture, Qhala operate in adjacent spaces but with different Go-To-Market models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Arial"/>
              </a:defRPr>
            </a:pPr>
            <a:r>
              <a:t>Malawi-first constraint-export pattern is a differentiated thesis — constraints are real, then patterns export globally (not the reverse)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70A40"/>
                </a:solidFill>
                <a:latin typeface="Arial"/>
              </a:defRPr>
            </a:pPr>
            <a:r>
              <a:t>Client acquisition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6751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- Initial 15–20 structured buyer discovery calls (Phase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68580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- Design partner program (2–3 partners, Phase 3) → Spin-out with dedicated leadership (Phase 4) → Ongoing studio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GOVERNANCE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t>5-Tier Approval Matrix (GAP-003): All privileged tool calls must pass tier gating before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t>Dashboard CORS Lockdown (GAP-010/011): Explicit allowlist, never wildcard.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029200" cy="1371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70A40"/>
                </a:solidFill>
                <a:latin typeface="Arial"/>
              </a:defRPr>
            </a:pPr>
            <a:r>
              <a:t>PII Guardrails (GAP-002/011): Intermediary proxy layer redacts/hashes PII before LLM requests; schema validation on all outputs.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t>Security by Default: Deny by default. Assume breach. Every finding gets severity rating and remediation timeline.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t>Compliance Coverage: SOC2, GDPR, and industry-specific regulations mapped to agent 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WHAT YOU GET AS A STUDIO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t>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Strategic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1 (Discovery)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Proof-of-concept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2 (Validation)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Weeks 3–6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Minimum Viable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3 (Build)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Weeks 7–14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Spin-out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383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4 (Scale)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383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Month 4+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Shared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Ongoing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Model mesh, agent stacks, data pipelines, GTM engines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KPI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Ongoing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7-department real-time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Governance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03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Ongoing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303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5-tier approval, PII guardrails, CORS lockdown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All Parts 1–5 shipped 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1. Strategic alignment call — 60 minutes to validate thesis fit and portfolio archetype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2. Discovery phase — 2 weeks problem discovery &amp; thesis definition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3. Buyer discovery — 15–20 structured calls across target accounts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4. Go/No-Go decision — Based on positive commitments and technical feasibility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5. Spin-out execution — If approved: dedicated leadership, capitalization, and studio 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0A40"/>
                </a:solidFill>
                <a:latin typeface="Arial"/>
              </a:defRPr>
            </a:pPr>
            <a:r>
              <a:t>Contact: Chief of Staff, Lightspeed Holdings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Reference: AI Venture Studio Execution Plan Parts 1–5 (September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*This presentation is based on the AI Venture Studio execution plan documented in `brand/ai_venture_studio_execution_plan.md` and `docs/venture-studio/`. All Parts 1–5 shipped September 2026. AI-agnostic: works with any LLM provider (OpenAI, Anthropic, DeepSeek, local Ollama). Malawi-first constraint-export pattern applies.*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BRAND COMPLIANCE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[x] Logo from official assets, never recreated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[x] Logo clear space respected (1× "L" height on all sides)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[x] Only palette colors used (navy #070A40, red #E63946, cyan #00BFFF, grey-light #F2F2F2, white #FFFFFF)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[x] Vector format for print, transparent PNG on dark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[x] ™ on first mention of company name: LightSpeed Holdings Limited™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[x] Type sizes from the brand scale (type scale in brand-tokens.json)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[x] Spacing multiples of 4px (base unit)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[x] Tagline spelled exactly "ASPIRE. ACT. ACHIEVE."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Any deviation requires a documented brand decision approved by the Brand Strategist / CMO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LightSpeed Holdings Limited™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FFF"/>
                </a:solidFill>
                <a:latin typeface="Arial"/>
              </a:defRPr>
            </a:pPr>
            <a:r>
              <a:t>ASPIRE. ACT. ACHIEVE.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114800"/>
            <a:ext cx="18288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Jack Mlusu, Founder &amp; CEO</a:t>
            </a:r>
            <a:br/>
            <a:r>
              <a:t>jmlusu@gmail.com</a:t>
            </a:r>
            <a:br/>
            <a:r>
              <a:t>+265 (0) 980 016 004</a:t>
            </a:r>
            <a:br/>
            <a:r>
              <a:t>lightspeedholdings.vercel.app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