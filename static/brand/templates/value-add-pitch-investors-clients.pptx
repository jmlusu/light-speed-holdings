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ASPIRE. ACT. ACHIEVE.</a:t>
            </a:r>
          </a:p>
        </p:txBody>
      </p:sp>
      <p:pic>
        <p:nvPicPr>
          <p:cNvPr id="3" name="Picture 2" descr="LightSpeed Holdings official 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880360"/>
            <a:ext cx="2103120" cy="2103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31920" y="4709160"/>
            <a:ext cx="128016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Value Addition Pitch — Investor &amp; 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40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Arial"/>
              </a:rPr>
              <a:t>Date: 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138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70A40"/>
                </a:solidFill>
                <a:latin typeface="Arial"/>
              </a:rPr>
              <a:t>Organizations struggle to deploy AI agents at scale — each requires custom integration, monitoring, and governance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70A40"/>
                </a:solidFill>
                <a:latin typeface="Arial"/>
              </a:rPr>
              <a:t>Existing tools are either too simple (chatbots) or too complex (enterprise ML platforms) — no turnkey middle ground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70A40"/>
                </a:solidFill>
                <a:latin typeface="Arial"/>
              </a:rPr>
              <a:t>Building an AI-powered organization demands ML engineering teams — prohibitive cost for all but the largest enterprises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70A40"/>
                </a:solidFill>
                <a:latin typeface="Arial"/>
              </a:rPr>
              <a:t>Cost tracking, human oversight, and multi-provider management are afterthoughts, not built-in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70A40"/>
                </a:solidFill>
                <a:latin typeface="Arial"/>
              </a:rPr>
              <a:t>No unified registry or orchestration layer — agents live as ad-hoc scripts, not as a cohesive organization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57800"/>
            <a:ext cx="813816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13248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0A40"/>
                </a:solidFill>
                <a:latin typeface="Arial"/>
              </a:rPr>
              <a:t>"Building an AI-native company shouldn't require a team of ML engineers."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70A40"/>
                </a:solidFill>
                <a:latin typeface="Arial"/>
              </a:rPr>
              <a:t>AI Company Builder — a CLI platform that generates, orchestrates, and manages complete AI agent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Registry-driven: agents defined in YAML → OpenCode-compatible markdown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Multi-provider LLM routing with fallback capability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Built-in cost tracking &amp; budget enforcement per agent — CFO-visible KPIs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Human-in-the-loop approval gates for dangerous/irreversible operations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MessageBus task queue for cross-agent coordination and delegation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Pre-built agent roles across many departments — out-of-the-box capability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70A40"/>
                </a:solidFill>
                <a:latin typeface="Arial"/>
              </a:rPr>
              <a:t>✓ Portfolio D support: Consumer Platforms for high-volume, low-latency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49240"/>
            <a:ext cx="813816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46811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0A40"/>
                </a:solidFill>
                <a:latin typeface="Arial"/>
              </a:rPr>
              <a:t>Value Proposition: Turnkey AI agent organization in minutes, not months. Shared infrastructure, governance, and orchestration for any LLM provider.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VALUE ADDITION (CTO PORTFOLIO 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0A40"/>
                </a:solidFill>
                <a:latin typeface="Arial"/>
              </a:rPr>
              <a:t>How Agent Hierarchies Reduce Cost, Velocity Drag, and Conflict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560320" cy="4663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5603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5179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0A40"/>
                </a:solidFill>
                <a:latin typeface="Arial"/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340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High completion rate → fewer manual overrides, lower labor cost/task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Capital efficiency vs. traditional seed rounds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Rapid velocity to MVP → faster time-to-revenue, lower burn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Optimal correction ratio → quality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457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179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0A40"/>
                </a:solidFill>
                <a:latin typeface="Arial"/>
              </a:rPr>
              <a:t>VELOCITY DRAG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057400"/>
            <a:ext cx="2340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Single source of truth: registry → template → agents pipeline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Extensive agents and departments — onboarding is YAML, not a rewrite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Portfolio D: sub-second execution, model-cascade optimization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Low-cost open-weights for simple tasks; frontier only on low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4663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179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057400"/>
            <a:ext cx="2340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5-tier approval matrix governs every privileged tool call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Dead-letter queue hardening — failed tasks replayable, not lost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Circuit-breaker hardening with thresholds + half-open probes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Registry validation catches dangling refs &amp; cycles at load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0A40"/>
                </a:solidFill>
                <a:latin typeface="Arial"/>
              </a:rPr>
              <a:t>AI agent infrastructure market undergoing rapid enterprise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56032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56032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206654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Enterprise AI agent platforms &amp;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1828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06654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Mid-market scaling agent organizations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560320" cy="18288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72768"/>
            <a:ext cx="2560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6654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Developer-led, self-serve AI company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0A40"/>
                </a:solidFill>
                <a:latin typeface="Arial"/>
              </a:rPr>
              <a:t>TARGET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Startups building AI-native products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SMBs automating operations with AI agents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Enterprises deploying internal AI agent fleets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AI consultancies building client agent systems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SADC-region ventures pursuing Malawi-first constraint-export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3946"/>
                </a:solidFill>
                <a:latin typeface="Arial"/>
              </a:rPr>
              <a:t>FOUR RESERVATIONS (thesis-protecting framework)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Constraint-first (Malawi constraints → global export, not reverse)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AI-agnostic (any LLM provider — OpenAI, Anthropic, DeepSeek, Gemini, local Ollama)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PII-first (guardrails by default, schema validation on all outputs)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Capital-efficient (multi-fold improvement over traditional routes)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138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Revenue Streams: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SaaS Subscription — Starter, Pro, and Enterprise tiers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Usage-Based — LLM token pass-through + margin (tracked per agent via CostTracker)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Enterprise — Custom deployment, SLAs, dedicated support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Services — Implementation consulting for large deployments (Offer A through D)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Pricing Tiers (SaaS):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Starter — Essential agent allocation, basic registry, email support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Pro — Expanded agent allocation, multi-provider routing, CostTracker, HITL approval gates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Enterprise — Unlimited agent allocation, custom model cascading, dedicated support, SLA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Unit Economics: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Target gross margin: High gross margin (shared infrastructure amortized across portfolios)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LLM cost: Controlled cost structure (CostTracker monitoring)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Target CAC payback: Rapid payback window (Platform Licensing Sales Lead — Offer 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   •  Capital efficiency target: Superior efficiency vs. traditional 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TRACTION / LIGHTHOUSE PILOTS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95478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395478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3954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655064"/>
            <a:ext cx="38084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Agents Deployed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3460" y="1051560"/>
            <a:ext cx="395478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23460" y="1051560"/>
            <a:ext cx="3954780" cy="1828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3460" y="1161288"/>
            <a:ext cx="39547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612" y="1655064"/>
            <a:ext cx="38084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Departments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395478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3954780" cy="18288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3954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" y="2798064"/>
            <a:ext cx="38084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Offer Lines in pilot (A, B, C, 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3460" y="2194560"/>
            <a:ext cx="395478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23460" y="2194560"/>
            <a:ext cx="395478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3460" y="2304288"/>
            <a:ext cx="39547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0A40"/>
                </a:solidFill>
                <a:latin typeface="Arial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6612" y="2798064"/>
            <a:ext cx="38084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Priced Recurring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3946"/>
                </a:solidFill>
                <a:latin typeface="Arial"/>
              </a:rPr>
              <a:t>Key Pilot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8138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Design partners onboarded across Healthcare, Finance, Academia verticals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High task completion rate across all pilot agent workflows (registry metric)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Rapid velocity from thesis to design partner deployment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Optimized correction ratio — identifies guardrail improvements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Superior capital efficiency vs. traditional venture setup (shared infra amortization)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Feedback: 'The agent registry significantly streamlined our integration.' — CTO, design partner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AGENT REGISTRY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Arial"/>
              </a:rPr>
              <a:t>Single pipeline: one source of truth → generated, governed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42280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70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148839"/>
            <a:ext cx="131307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A40"/>
                </a:solidFill>
                <a:latin typeface="Arial"/>
              </a:rPr>
              <a:t>Registry 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06039"/>
            <a:ext cx="131307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company-registry.yaml</a:t>
            </a:r>
          </a:p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(Comprehensive registry)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62886" y="2688336"/>
            <a:ext cx="256032" cy="201168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18918" y="2103120"/>
            <a:ext cx="142280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8918" y="2103120"/>
            <a:ext cx="1422806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3782" y="2148839"/>
            <a:ext cx="131307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Jinja2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3782" y="2606039"/>
            <a:ext cx="13130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AgentGenerator</a:t>
            </a:r>
          </a:p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renders cards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41724" y="2688336"/>
            <a:ext cx="256032" cy="201168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7756" y="2103120"/>
            <a:ext cx="142280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70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2620" y="2148839"/>
            <a:ext cx="131307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A40"/>
                </a:solidFill>
                <a:latin typeface="Arial"/>
              </a:rPr>
              <a:t>.opencode/agents/*.md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2620" y="2606039"/>
            <a:ext cx="13130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mode: subagent</a:t>
            </a:r>
          </a:p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+ permissions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20563" y="2688336"/>
            <a:ext cx="256032" cy="201168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76595" y="2103120"/>
            <a:ext cx="142280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76595" y="2103120"/>
            <a:ext cx="1422806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1459" y="2148839"/>
            <a:ext cx="131307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ToolRunner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1459" y="2606039"/>
            <a:ext cx="13130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canonical 7 tools</a:t>
            </a:r>
          </a:p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validated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9401" y="2688336"/>
            <a:ext cx="256032" cy="201168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55433" y="2103120"/>
            <a:ext cx="142280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70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0297" y="2148839"/>
            <a:ext cx="131307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A40"/>
                </a:solidFill>
                <a:latin typeface="Arial"/>
              </a:rPr>
              <a:t>Executor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0297" y="2606039"/>
            <a:ext cx="13130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MessageBus queue</a:t>
            </a:r>
          </a:p>
          <a:p>
            <a:pPr algn="ctr"/>
            <a:r>
              <a:rPr sz="1200" b="0">
                <a:solidFill>
                  <a:srgbClr val="070A40"/>
                </a:solidFill>
                <a:latin typeface="Arial"/>
              </a:rPr>
              <a:t>+ Layered HITL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3946"/>
                </a:solidFill>
                <a:latin typeface="Arial"/>
              </a:rPr>
              <a:t>Pipeline guarantees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8138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Agents defined once in company-registry.yaml (single source of truth)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AgentGenerator renders Jinja2 → OpenCode-compatible markdown at .opencode/agents/*.md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ToolRunner validates only the canonical 7 tools: read, edit, bash, task, webfetch, grep, list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Every privileged call passes the layered approval matrix — HITL gates for dangerous ops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MessageBus coordinates cross-agent task delegation and the executor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SECURITY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Arial"/>
              </a:rPr>
              <a:t>Zero-Trust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138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Deny by default — every privileged tool call must pass tier gating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Five-tier approval matrix governs all privileged operations — no silent approvals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CORS lockdown: explicit allowlist, never wildcard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Dashboard API authentication: explicit key-based auth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PII guardrails: proxy layer redacts/hashes PII before LLM requests; schema validation on outputs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LLM circuit breaker: failure thresholds, half-open probes, reset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Dead-letter queue: replayable, retryable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Arial"/>
              </a:rPr>
              <a:t>Key Rotation (per governance docs)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Rotate at scheduled intervals or on suspected compromise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Generate new keys for each provider (OpenCode, Gemini, Dashboard RBAC)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Update .env locally — never commit .env to git (gitignored)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Update deployed environments via secrets manager (CI, Docker, cloud secret stores)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Verify health endpoints respond with new keys before revoking old ones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●  Dashboard RBAC keys: ADMIN, APPROVE, RUN, API (priority order)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ROADMAP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60320" cy="5029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56032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0A40"/>
                </a:solidFill>
                <a:latin typeface="Arial"/>
              </a:rPr>
              <a:t>SHORT-TERM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2340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Launch Offer A (SaaS Starter) with design partners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Integrate Offer B with first NGO client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Deploy CTO Portfolio D consumer platform prototype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High task completion rate validated across pilot workflows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Correction-ratio baseline established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Key rotation procedure tested &amp; documented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143000"/>
            <a:ext cx="2560320" cy="5029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143000"/>
            <a:ext cx="2560320" cy="5029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0A40"/>
                </a:solidFill>
                <a:latin typeface="Arial"/>
              </a:rPr>
              <a:t>MEDIUM-TERM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828800"/>
            <a:ext cx="2340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Expanded paying pilot clients across Offers A–D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Recurring revenue run-rate (SaaS + managed recurring)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Phase Five autonomous mode live — self-governing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Full registry/YAML pipeline open-sourced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Security audit complete: SOC2 foundations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Key rotation automated in staging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2560320" cy="5029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560320" cy="50292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0A40"/>
                </a:solidFill>
                <a:latin typeface="Arial"/>
              </a:rPr>
              <a:t>LONG-TERM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28800"/>
            <a:ext cx="2340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Enterprise clients across target industries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Recurring revenue with healthy gross margin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Spin-out support: new portfolio companies launched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Full governance: SOC2, GDPR, Malawi DPA foundations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Global export of Malawi-first constraint patterns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Superior capital efficiency verified vs. traditional ventures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325880"/>
            <a:ext cx="128016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FFF"/>
                </a:solidFill>
                <a:latin typeface="Arial"/>
              </a:rPr>
              <a:t>Raising Seed Financing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6766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Talent — Platform Licensing Sales Lead, chatbot/compliance leads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Client pilots — Offer deployment across partners (post governance gates)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Hardware lab — on-prem GPU for offline-first proof; regional field kits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Compliance — data protection framework, GDPR opinion, SOC 2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Milestones with this 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0060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Paying pilot clients across active offer lines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Recurring revenue run-rate (SaaS + managed recurring)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FFFF"/>
                </a:solidFill>
                <a:latin typeface="Arial"/>
              </a:rPr>
              <a:t>•  Autonomous mode live — self-governing AI company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0A40"/>
                </a:solidFill>
                <a:latin typeface="Arial"/>
              </a:rPr>
              <a:t>TEAM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Arial"/>
              </a:rPr>
              <a:t>Executive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Chief of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55064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Strategic 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7664" y="1325880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7664" y="1325880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7392" y="1380744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7392" y="1655064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Technology &amp; software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5248" y="1325880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5248" y="1325880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4976" y="1380744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976" y="1655064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Budgets, API cost, forecasting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130552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130552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185416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59736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Product vision &amp; roadmap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7664" y="2130552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7664" y="2130552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7392" y="2185416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7392" y="2459736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Brand, demand gen, positioning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5248" y="2130552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5248" y="2130552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4976" y="2185416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COO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4976" y="2459736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Day-to-day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935224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2935224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2990088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CAIO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264408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AI research &amp; model selection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7664" y="2935224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07664" y="2935224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7392" y="2990088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CISO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7392" y="3264408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Assets, data &amp; systems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5248" y="2935224"/>
            <a:ext cx="2602992" cy="6583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5248" y="2935224"/>
            <a:ext cx="182880" cy="65836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4976" y="2990088"/>
            <a:ext cx="2420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0A40"/>
                </a:solidFill>
                <a:latin typeface="Arial"/>
              </a:rPr>
              <a:t>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4976" y="3264408"/>
            <a:ext cx="2420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0A40"/>
                </a:solidFill>
                <a:latin typeface="Arial"/>
              </a:rPr>
              <a:t>IT infrastructure &amp; internal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849624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Arial"/>
              </a:rPr>
              <a:t>Specialist &amp; Department Roles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215384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Comprehensive agent and department hierarchy covering Executive, Technology, Research, Operations, Security, and Marketing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Financial Analyst — ROI, cost modeling, budget forecasting, variance analysis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Platform Reliability Engineer — concurrency safety, DLQ hardening, circuit breakers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70A40"/>
                </a:solidFill>
                <a:latin typeface="Arial"/>
              </a:rPr>
              <a:t>•  Decision Engine Owner — structured approval matrix, risk assessment, decision trees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CLOSING /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1920" y="1188720"/>
            <a:ext cx="128016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Contact: Chief of Staff, LightSpeed Holdings Limited™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Arial"/>
              </a:rPr>
              <a:t>Platform Dashboard Available  •  https://lightspeedholdings.vercel.app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Arial"/>
              </a:rPr>
              <a:t>Approval Flow: Structured matrix — all privileged calls pass tier gating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697480"/>
            <a:ext cx="5120640" cy="685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8163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0A40"/>
                </a:solidFill>
                <a:latin typeface="Arial"/>
              </a:rPr>
              <a:t>Request Strategic Alignment Call — validate thesis fit</a:t>
            </a:r>
          </a:p>
        </p:txBody>
      </p:sp>
      <p:pic>
        <p:nvPicPr>
          <p:cNvPr id="9" name="Picture 8" descr="LightSpeed Holdings official 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6118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