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LIGHTSPEED HOLDINGS 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FFF"/>
                </a:solidFill>
                <a:latin typeface="Arial"/>
              </a:defRPr>
            </a:pPr>
            <a:r>
              <a:t>Board of Directors Meeting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August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1.  Approval of Previous Minutes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2.  CEO Report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3.  Financial Summary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4.  Product &amp; Engineering Update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5.  Sales &amp; Marketing Update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6.  Customer Success Report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7.  Key Decisions Required</a:t>
            </a:r>
          </a:p>
          <a:p>
            <a:pPr>
              <a:spcAft>
                <a:spcPts val="600"/>
              </a:spcAft>
              <a:defRPr sz="1600">
                <a:solidFill>
                  <a:srgbClr val="070A40"/>
                </a:solidFill>
                <a:latin typeface="Arial"/>
              </a:defRPr>
            </a:pPr>
            <a:r>
              <a:t>8.  Next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CEO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Strategic Priorities This Quarter: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Activate Platform Licensing Sales Lead (Offer E) — 2026 breakout revenue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Unblock Offer B/C governance gates (G4 security review + liability cap)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Complete Phase 3 growth modules (Marketing, Sales, CS, Legal, HR)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Key Accomplishments: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Phases 1–2 complete — 183 tests passing, ruff &amp; mypy clean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Corporate Blueprint adopted (DIR-CEO-2026-001) — $500K capital guidance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Brand &amp; investor materials ready — pitch deck, one-pager, social assets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Challenges &amp; Risks: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Revenue ledger not yet live — no audited customer revenue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Offer B/C still gated on security review (target Sep 5,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FINANCIAL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0A40"/>
                </a:solidFill>
                <a:latin typeface="Arial"/>
              </a:defRPr>
            </a:pPr>
            <a:r>
              <a:t>$500K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Capital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20040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0A40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Y1 Revenue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320040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0A40"/>
                </a:solidFill>
                <a:latin typeface="Arial"/>
              </a:defRPr>
            </a:pPr>
            <a:r>
              <a:t>10–15%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MoM Growth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834640"/>
            <a:ext cx="320040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70A40"/>
                </a:solidFill>
                <a:latin typeface="Arial"/>
              </a:defRPr>
            </a:pPr>
            <a:r>
              <a:t>70%+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Gross Margin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Notes: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All figures are TARGETS — no audited customer revenue yet (pre-pilot)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$500K capital allocation ratified under Corporate Blueprint §7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Phase 3–5 LLM test costs are minimal (~$120 total) — local Ollama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PRODUCT &amp; ENGINEERING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Shipped This Quarter: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Agent registry + generator — 19 YAML configs, 30+ CLI commands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Multi-provider LLM routing — 5 providers, 3-tier model routing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ReAct agent loop, HITL approval gates, cost tracking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In Progress: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Phase 3 growth modules — Marketing, Sales, CS, Legal, HR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Dashboard auth + live KPIs (dashboard API hardening)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Upcoming (Next Quarter):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Phase 4 — specialist agents (Financial Analyst, DevOps, Data Scientist, Compliance)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Phase 5 — autonomous coordination (scheduler, escalation, self-healing)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Technical Debt &amp; Reliability: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20 known architecture gaps (2 CRITICAL, 5 HIGH)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In-memory budget accumulators reset on restart — rebuild from JSONL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SALES &amp; MARKETING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Pipeline: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0 qualified leads yet — pre-pilot, pipeline forming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5 flagship offers priced (Digital Presence, AI Growth, Automation, Data, Builder)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Offer E (Platform Licensing) designated 2026 breakout revenue line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Customer Wins: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None booked yet — pilots planned: 3× Offer A, 1× Offer B, 1× Offer C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Marketing: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Brand rollout complete — logos, pitch deck, one-pager, social assets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Investor readiness plan live (22-task checklist)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Key Initiatives: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Activate Platform Licensing Sales Lead — Week 1–2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Offer B/C governance unblock (Sep 5, 2026 security review)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CUSTOMER SUCCESS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Health Metrics (targets — tools incoming in Phase 3/4):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NPS: target ≥ 70 | CSAT: target ≥ 4.5/5.0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Churn: target &lt; 5% | Net retention: target ≥ 120%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Support: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No customer tickets yet — pre-pilot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Slack + MessageBus broadcast for escalations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Customer Feedback Highlights: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N/A — awaiting first pilots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Pilot success metrics defined: NPS ≥ 4.5, Time-to-Value &lt; 2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KEY 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Decision 1: Authorize first client pilots (3× Offer A, 1× Offer B, 1× Offer C)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Context: Pilots are gated on ratified G1–G4 governance + signed MSA/DPA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Options: Proceed now (cash-flow + referenceable) vs wait for full SOC 2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Recommendation: Proceed with Offer A pilots now; Offer B/C after Sep 5 review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Deadline: Sep 1, 2026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Decision 2: Ratify SaaS pricing band $49–$299/mo for Offer E (AI Company Builder)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Context: Fee-based pricing in catalog; needs CFO + CEO sign-off to publish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Options: $49–$299 band vs $99–$499 premium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Recommendation: Approve $49–$299 to maximize developer-led adoption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Deadline: Sep 1, 2026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Decision 3: Confirm Y1 revenue target ($120K ARR) for investor materials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Context: DIR-CEO-2026-001 §6.2 requires CFO sign-off on revenue projections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Options: $120K target vs conservative ($60K) vs stretch ($200K)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Recommendation: $120K ARR ($10K/mo) — consistent with finance KPI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Deadline: Before next fundraise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BOARD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September 15, 2026 — Q3 Strategy Pivot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CONFIDENTIAL — For Board Members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