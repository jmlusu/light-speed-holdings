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Opening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FFF"/>
                </a:solidFill>
                <a:latin typeface="Arial"/>
              </a:defRPr>
            </a:pPr>
            <a:r>
              <a:t>Why this moment matters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9620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Size and growth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70A40"/>
                </a:solidFill>
                <a:latin typeface="Arial"/>
              </a:defRPr>
            </a:pPr>
            <a:r>
              <a:t>TAM: $65B — Enterprise AI agent platforms &amp; orchestration by 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70A40"/>
                </a:solidFill>
                <a:latin typeface="Arial"/>
              </a:defRPr>
            </a:pPr>
            <a:r>
              <a:t>SAM: $12B — Mid-market companies deploying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70A40"/>
                </a:solidFill>
                <a:latin typeface="Arial"/>
              </a:defRPr>
            </a:pPr>
            <a:r>
              <a:t>SOM: $120M — Developer-led, self-serve AI company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3946"/>
                </a:solidFill>
                <a:latin typeface="Arial"/>
              </a:defRPr>
            </a:pPr>
            <a:r>
              <a:t>&gt;&gt;&gt; 65% of enterprises will deploy AI agents by 2027 (IDC)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Unique approach and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70A40"/>
                </a:solidFill>
                <a:latin typeface="Arial"/>
              </a:defRPr>
            </a:pPr>
            <a:r>
              <a:t>AI Company Builder — CLI platform that generates, orchestrates, and manages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70A40"/>
                </a:solidFill>
                <a:latin typeface="Arial"/>
              </a:defRPr>
            </a:pPr>
            <a:r>
              <a:t>complete AI agent organizations from a single YAML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✓  Registry-driven: Define agents in YAML, generate OpenCode markdown files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✓  Multi-provider LLM routing with automatic fallback chain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✓  Built-in cost tracking &amp; budget enforcement per agent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✓  Human-in-the-loop approval gates for irreversible operations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✓  MessageBus task queue for cross-agent coordination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✓  Local-first option (Ollama) for zero-cost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FF"/>
                </a:solidFill>
                <a:latin typeface="Arial"/>
              </a:defRPr>
            </a:pPr>
            <a:r>
              <a:t>Differentiation: end-to-end organization generation, not just a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Customer Success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Real-world results and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NGO pilot: 3× Offer A deployment, 40% operational cost reduction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SMB SaaS: 1× Offer B integration, 25% faster onboarding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Enterprise: 1× Offer C fleet management, 70% automation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7772400" cy="1371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0A40"/>
                </a:solidFill>
                <a:latin typeface="Arial"/>
              </a:defRPr>
            </a:pPr>
            <a:r>
              <a:t>"Building an AI-native company shouldn't require a team of ML engineers."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Our differentiators in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Direct: Agent frameworks (LangGraph, CrewAI) — dev tools, no org layer or governance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Workflow automation (n8n, Zapier) — task pipelines, not multi-agent organizations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Single-assistant SaaS (ChatGPT Business, Copilot) — no role hierarchy or cost control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Indirect: Custom-built agent frameworks (high engineering cost)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Enterprise ML platforms (overkill for most orgs)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ChatGPT/Claude for single tasks (no orchestration)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0BFFF"/>
                </a:solidFill>
                <a:latin typeface="Arial"/>
              </a:defRPr>
            </a:pPr>
            <a:r>
              <a:t>Our Differentiation:</a:t>
            </a:r>
          </a:p>
          <a:p>
            <a:pPr>
              <a:spcAft>
                <a:spcPts val="600"/>
              </a:spcAft>
              <a:defRPr sz="1200">
                <a:solidFill>
                  <a:srgbClr val="00BFFF"/>
                </a:solidFill>
                <a:latin typeface="Arial"/>
              </a:defRPr>
            </a:pPr>
            <a:r>
              <a:t>  ✓  AI-native company structure (not just a tool)</a:t>
            </a:r>
          </a:p>
          <a:p>
            <a:pPr>
              <a:spcAft>
                <a:spcPts val="600"/>
              </a:spcAft>
              <a:defRPr sz="1200">
                <a:solidFill>
                  <a:srgbClr val="00BFFF"/>
                </a:solidFill>
                <a:latin typeface="Arial"/>
              </a:defRPr>
            </a:pPr>
            <a:r>
              <a:t>  ✓  Built-in cost transparency &amp; budget enforcement</a:t>
            </a:r>
          </a:p>
          <a:p>
            <a:pPr>
              <a:spcAft>
                <a:spcPts val="600"/>
              </a:spcAft>
              <a:defRPr sz="1200">
                <a:solidFill>
                  <a:srgbClr val="00BFFF"/>
                </a:solidFill>
                <a:latin typeface="Arial"/>
              </a:defRPr>
            </a:pPr>
            <a:r>
              <a:t>  ✓  Human-in-the-loop safety gates</a:t>
            </a:r>
          </a:p>
          <a:p>
            <a:pPr>
              <a:spcAft>
                <a:spcPts val="600"/>
              </a:spcAft>
              <a:defRPr sz="1200">
                <a:solidFill>
                  <a:srgbClr val="00BFFF"/>
                </a:solidFill>
                <a:latin typeface="Arial"/>
              </a:defRPr>
            </a:pPr>
            <a:r>
              <a:t>  ✓  Multi-provider with automatic fallback</a:t>
            </a:r>
          </a:p>
          <a:p>
            <a:pPr>
              <a:spcAft>
                <a:spcPts val="600"/>
              </a:spcAft>
              <a:defRPr sz="1200">
                <a:solidFill>
                  <a:srgbClr val="00BFFF"/>
                </a:solidFill>
                <a:latin typeface="Arial"/>
              </a:defRPr>
            </a:pPr>
            <a:r>
              <a:t>  ✓  Local-first option (Ollama) for zero-cost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Technology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Competitive advantage and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Architecture: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Python 3.12+ CLI (Typer) — no web server required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Registry YAML → Jinja2 template → OpenCode agent files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ReAct agentic loop with tool routing and cost tracking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Core Components: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AgentLoop — Multi-turn reasoning with tool execution and governance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CostTracker — Real-time LLM spend monitoring with 80/10/10 rule enforcement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HITLGate — Human approval for irreversible actions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MessageBus — JSON task queue for agent coordination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ModelRouter — Provider fallback chain (OpenAI → Anthropic → DeepSeek → Gemini)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Security: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Bandit static analysis, pre-commit hooks (ruff, mypy, bandit clean)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Principle-of-least-privilege agent permissions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  •  Encrypted credential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FF"/>
                </a:solidFill>
                <a:latin typeface="Arial"/>
              </a:defRPr>
            </a:pPr>
            <a:r>
              <a:t>ModelRouter: automatic provider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Roadmap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Key milestones over coming quarters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Q4 2026 — Platform bootstrapped; Phase 1–2 core architecture shipped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Q1 2027 — 5 flagship offers priced &amp; governance gates ratified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Q1 2027 — Corporate Blueprint adopted; $500K capital guidance signed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Q2 2027 — 2,000+ automated tests; ruff, mypy &amp; bandit clean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Q2 2027 — Multi-region deployment; local-first (Ollama) support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Q3 2027 — Autonomous mode live — self-governing AI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2F2"/>
                </a:solidFill>
                <a:latin typeface="Arial"/>
              </a:defRPr>
            </a:pPr>
            <a:r>
              <a:t>80/10/10 rule enforced across all visual elements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Key Decisions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Decisions needed from leadership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Approve $500K seed raise (Corporate Blueprint §7)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Authorize 3× Offer A pilot clients post-governance gates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Green-light hardware lab for offline-first proof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Compliance sign-off: Malawi DPA 2017, GDPR opinion, SOC 2 Type II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Hire Platform Licensing Sales Lead (Offer E) — Priority 1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Approve BPA/Chatbot Delivery Lead (Offer B) for NGO USD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3946"/>
                </a:solidFill>
                <a:latin typeface="Arial"/>
              </a:defRPr>
            </a:pPr>
            <a:r>
              <a:t>All items require CEO signature before proceeding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Financial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Unit economics and trajectory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10972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70A4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Years to autonomy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3200400" cy="10972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965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70A40"/>
                </a:solidFill>
                <a:latin typeface="Arial"/>
              </a:defRPr>
            </a:pPr>
            <a:r>
              <a:t>$500K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Seed raise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3200400" cy="10972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70A4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Offer families (A, B, 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474720"/>
            <a:ext cx="3200400" cy="10972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611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70A40"/>
                </a:solidFill>
                <a:latin typeface="Arial"/>
              </a:defRPr>
            </a:pPr>
            <a:r>
              <a:t>80/10/10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Brand color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FF"/>
                </a:solidFill>
                <a:latin typeface="Arial"/>
              </a:defRPr>
            </a:pPr>
            <a:r>
              <a:t>Trajectory: $120K ARR → $500K → $2M+ by Q3 2027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Team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Execution capacity and team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Leadership: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Jack Mlusu — Founder &amp; CEO — builder-operator; runs a 5-agent AI org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AI Executive Cabinet — CTO, CFO, CMO, CLO, CSO, COO, CAIO (7 executives)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Board of Directors — 7 standing committees (Strategy, Finance, Risk, Technology, Product, Customer, Governance)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Hiring Plan (per 90-day Blueprint):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Platform Licensing Sales Lead (Offer E) — Priority 1, breakout revenue line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BPA/Chatbot Delivery Lead (Offer B) — NGO USD revenue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  •  Compliance Officer + DevRel Engineer — unblock Offer B/C &amp; developer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FFF"/>
                </a:solidFill>
                <a:latin typeface="Arial"/>
              </a:defRPr>
            </a:pPr>
            <a:r>
              <a:t>Focus: developer experience + compliance-first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70A40"/>
                </a:solidFill>
                <a:latin typeface="Arial"/>
              </a:defRPr>
            </a:pPr>
            <a:r>
              <a:t>Future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Where we're headed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Q2 2027 — Multi-region deployment; local-first (Ollama) support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Q3 2027 — Autonomous mode live — self-governing AI company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2028 — $2M+ ARR with 5+ paying pilot clients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2028 — Phase 5: fully autonomous AI company operation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•  Ongoing — 80/10/10 brand rule enforced across all artifacts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FFF"/>
                </a:solidFill>
                <a:latin typeface="Arial"/>
              </a:defRPr>
            </a:pPr>
            <a:r>
              <a:t>What happens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9620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Schedule stakeholder alignment session (CEO + Cabinets)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Review and approve $500K seed raise terms (§7 Corporate Blueprint)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Authorize 3× Offer A pilot clients post-governance gates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Green-light compliance sign-off: DPA, GDPR, SOC 2 Type II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Kick-off hardware lab for offline-first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583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FF"/>
                </a:solidFill>
                <a:latin typeface="Arial"/>
              </a:defRPr>
            </a:pPr>
            <a:r>
              <a:t>Aspire. Act. Achieve.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Closing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FFF"/>
                </a:solidFill>
                <a:latin typeface="Arial"/>
              </a:defRPr>
            </a:pPr>
            <a:r>
              <a:t>Aspirational but grounded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114800"/>
            <a:ext cx="39620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The moment is right for AI-native company building — 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and Lightspeed Holdings is the vehicle.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80/10/10 brand rule: navy dominance, red/cyan accents, grey filler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Governance gated: all decisions flow through 5-tier approval matrix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Cost-transparent: built-in LLM spend monitoring per agent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Human-over-automated: HITL gates on irreversible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