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1737360" cy="1737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mpany Logo" descr="LightSpeed Holding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"/>
            <a:ext cx="1737360" cy="1737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24688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</a:rPr>
              <a:t>LIGHTSPEED HOLDINGS LIMITED™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918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BFFF"/>
                </a:solidFill>
                <a:latin typeface="Arial"/>
              </a:defRPr>
            </a:pPr>
            <a:r>
              <a:rPr sz="1800" b="1">
                <a:solidFill>
                  <a:srgbClr val="00BFFF"/>
                </a:solidFill>
                <a:latin typeface="Arial"/>
              </a:rPr>
              <a:t>ASPIRE. ACT. ACHIEVE.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931920"/>
            <a:ext cx="2743200" cy="36576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24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CA3AF"/>
                </a:solidFill>
                <a:latin typeface="Arial"/>
              </a:defRPr>
            </a:pPr>
            <a:r>
              <a:rPr sz="1200" b="1">
                <a:solidFill>
                  <a:srgbClr val="9CA3AF"/>
                </a:solidFill>
                <a:latin typeface="Arial"/>
              </a:rPr>
              <a:t>INTERNAL DRAFT —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BFFF"/>
                </a:solidFill>
                <a:latin typeface="Arial"/>
              </a:defRPr>
            </a:pPr>
            <a:r>
              <a:rPr sz="1200" b="1">
                <a:solidFill>
                  <a:srgbClr val="00BFFF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7772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•  Deploying AI agents at scale means custom integration, monitoring and governance for every one</a:t>
            </a:r>
          </a:p>
          <a:p>
            <a:pPr marL="219456" indent="-219456"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•  Existing tools are either too simple (chatbots) or too complex (enterprise ML platforms)</a:t>
            </a:r>
          </a:p>
          <a:p>
            <a:pPr marL="219456" indent="-219456"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•  No turnkey way exists to stand up an entire AI-powered organization</a:t>
            </a:r>
          </a:p>
          <a:p>
            <a:pPr marL="219456" indent="-219456"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•  Cost tracking, human oversight and multi-provider management are afterthoughts</a:t>
            </a:r>
          </a:p>
          <a:p>
            <a:pPr marL="219456" indent="-219456"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•  Governance arrives late, if at all: approvals, audit trails and escalation rules live outside the tooling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709160"/>
            <a:ext cx="7315200" cy="10515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892040"/>
            <a:ext cx="6766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70A40"/>
                </a:solidFill>
                <a:latin typeface="Arial"/>
              </a:defRPr>
            </a:pPr>
            <a:r>
              <a:rPr sz="1400" b="1">
                <a:solidFill>
                  <a:srgbClr val="070A40"/>
                </a:solidFill>
                <a:latin typeface="Arial"/>
              </a:rPr>
              <a:t>"Building an AI-native company shouldn't require a team of ML engineers."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070A40"/>
                </a:solidFill>
                <a:latin typeface="Arial"/>
              </a:defRPr>
            </a:pPr>
            <a:r>
              <a:rPr sz="1600" b="0">
                <a:solidFill>
                  <a:srgbClr val="070A40"/>
                </a:solidFill>
                <a:latin typeface="Arial"/>
              </a:rPr>
              <a:t>AI Company Builder — a CLI platform that generates, orchestrates and manages complete AI agent organizations.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Registry-driven: define agents in YAML, generate OpenCode-compatible markdown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Multi-provider LLM routing — OpenAI, Anthropic, DeepSeek, Gemini — with fallback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Per-agent cost tracking and budget enforcement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Human-in-the-loop approval gates for irreversible actions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MessageBus task queue for cross-agent coordination</a:t>
            </a:r>
          </a:p>
          <a:p>
            <a:pPr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✓  Pre-built agent roles across every department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69080"/>
            <a:ext cx="2514600" cy="16916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70A40"/>
                </a:solidFill>
                <a:latin typeface="Arial"/>
              </a:defRPr>
            </a:pPr>
            <a:r>
              <a:rPr sz="1400" b="1">
                <a:solidFill>
                  <a:srgbClr val="070A40"/>
                </a:solidFill>
                <a:latin typeface="Arial"/>
              </a:rPr>
              <a:t>1.  Define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26280"/>
            <a:ext cx="2148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One YAML registry lists every role, tool and permission the organization is allowed to use.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4069080"/>
            <a:ext cx="2514600" cy="16916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420624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70A40"/>
                </a:solidFill>
                <a:latin typeface="Arial"/>
              </a:defRPr>
            </a:pPr>
            <a:r>
              <a:rPr sz="1400" b="1">
                <a:solidFill>
                  <a:srgbClr val="070A40"/>
                </a:solidFill>
                <a:latin typeface="Arial"/>
              </a:rPr>
              <a:t>2.  Generate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4526280"/>
            <a:ext cx="2148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The CLI renders agent cards, permissions and prompts, so the organization is version-controlled like code.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069080"/>
            <a:ext cx="2514600" cy="169164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420624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70A40"/>
                </a:solidFill>
                <a:latin typeface="Arial"/>
              </a:defRPr>
            </a:pPr>
            <a:r>
              <a:rPr sz="1400" b="1">
                <a:solidFill>
                  <a:srgbClr val="070A40"/>
                </a:solidFill>
                <a:latin typeface="Arial"/>
              </a:rPr>
              <a:t>3.  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526280"/>
            <a:ext cx="2148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Work moves through a task queue under approval gates, with per-agent budgets and a full audit trail.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70A40"/>
                </a:solidFill>
                <a:latin typeface="Arial"/>
              </a:defRPr>
            </a:pPr>
            <a:r>
              <a:rPr sz="1400" b="0">
                <a:solidFill>
                  <a:srgbClr val="070A40"/>
                </a:solidFill>
                <a:latin typeface="Arial"/>
              </a:rPr>
              <a:t>Three shifts make an AI-native organization buildable today but not two years ago: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2514600" cy="1828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70A40"/>
                </a:solidFill>
                <a:latin typeface="Arial"/>
              </a:defRPr>
            </a:pPr>
            <a:r>
              <a:rPr sz="1400" b="1">
                <a:solidFill>
                  <a:srgbClr val="070A40"/>
                </a:solidFill>
                <a:latin typeface="Arial"/>
              </a:rPr>
              <a:t>Capability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2148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Long-horizon tool use is now reliable enough to run multi-step work, not just answer questions.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83080"/>
            <a:ext cx="2514600" cy="1828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92024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70A40"/>
                </a:solidFill>
                <a:latin typeface="Arial"/>
              </a:defRPr>
            </a:pPr>
            <a:r>
              <a:rPr sz="1400" b="1">
                <a:solidFill>
                  <a:srgbClr val="070A40"/>
                </a:solidFill>
                <a:latin typeface="Arial"/>
              </a:rPr>
              <a:t>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240280"/>
            <a:ext cx="2148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Inference has fallen far enough that per-agent budgets are a control problem, not a blocker.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83080"/>
            <a:ext cx="2514600" cy="182880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92024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70A40"/>
                </a:solidFill>
                <a:latin typeface="Arial"/>
              </a:defRPr>
            </a:pPr>
            <a:r>
              <a:rPr sz="1400" b="1">
                <a:solidFill>
                  <a:srgbClr val="070A40"/>
                </a:solidFill>
                <a:latin typeface="Arial"/>
              </a:rPr>
              <a:t>Expectation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40280"/>
            <a:ext cx="2148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Clients now ask how AI changes how they operate, not whether it will.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114800"/>
            <a:ext cx="8138160" cy="128016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279392"/>
            <a:ext cx="7680960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Why us: we run this ourselves. The company operates on the same registry, governance gates and cost controls we sell — built for low-bandwidth, offline-capable deployment in Malawi and the wider SADC region.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70A40"/>
                </a:solidFill>
                <a:latin typeface="Arial"/>
              </a:defRPr>
            </a:pPr>
            <a:r>
              <a:rPr sz="1400" b="0">
                <a:solidFill>
                  <a:srgbClr val="070A40"/>
                </a:solidFill>
                <a:latin typeface="Arial"/>
              </a:rPr>
              <a:t>Bottom-up sizing: accounts we can actually reach with each offer, priced from our own rate card. Market totals are pending a cited report.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7772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TAM:  Enterprises and consultancies adopting agentic AI operations</a:t>
            </a:r>
          </a:p>
          <a:p>
            <a:pPr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SAM:  Mid-market firms in Malawi and SADC reachable from Lilongwe</a:t>
            </a:r>
          </a:p>
          <a:p>
            <a:pPr>
              <a:spcAft>
                <a:spcPts val="600"/>
              </a:spcAft>
              <a:defRPr sz="1400">
                <a:solidFill>
                  <a:srgbClr val="070A40"/>
                </a:solidFill>
                <a:latin typeface="Arial"/>
              </a:defRPr>
            </a:pPr>
            <a:r>
              <a:rPr sz="1400">
                <a:solidFill>
                  <a:srgbClr val="070A40"/>
                </a:solidFill>
                <a:latin typeface="Arial"/>
              </a:rPr>
              <a:t>SOM:  Clients we can serve in the next four quarters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3946"/>
                </a:solidFill>
                <a:latin typeface="Arial"/>
              </a:defRPr>
            </a:pPr>
            <a:r>
              <a:rPr sz="1400" b="1">
                <a:solidFill>
                  <a:srgbClr val="E63946"/>
                </a:solidFill>
                <a:latin typeface="Arial"/>
              </a:rPr>
              <a:t>TARGET SEGMENTS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20440"/>
            <a:ext cx="7772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•  Enterprises deploying internal AI agent fleets</a:t>
            </a:r>
          </a:p>
          <a:p>
            <a:pPr marL="219456" indent="-219456"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•  SMBs automating operations</a:t>
            </a:r>
          </a:p>
          <a:p>
            <a:pPr marL="219456" indent="-219456"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•  AI consultancies building client agent systems</a:t>
            </a:r>
          </a:p>
          <a:p>
            <a:pPr marL="219456" indent="-219456">
              <a:spcAft>
                <a:spcPts val="600"/>
              </a:spcAft>
              <a:defRPr sz="1300">
                <a:solidFill>
                  <a:srgbClr val="070A40"/>
                </a:solidFill>
                <a:latin typeface="Arial"/>
              </a:defRPr>
            </a:pPr>
            <a:r>
              <a:rPr sz="1300">
                <a:solidFill>
                  <a:srgbClr val="070A40"/>
                </a:solidFill>
                <a:latin typeface="Arial"/>
              </a:rPr>
              <a:t>•  NGOs and development programs needing offline-capable tooling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937760"/>
            <a:ext cx="8138160" cy="9601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1023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We do not need the whole market. Paid delivery work from clients reachable from Lilongwe funds the platform, and the platform is what makes that delivery repeatable rather than bespoke.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PRODUCT &amp; 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70A40"/>
                </a:solidFill>
                <a:latin typeface="Arial"/>
              </a:defRPr>
            </a:pPr>
            <a:r>
              <a:rPr sz="1600" b="1">
                <a:solidFill>
                  <a:srgbClr val="070A40"/>
                </a:solidFill>
                <a:latin typeface="Arial"/>
              </a:rPr>
              <a:t>What it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397763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Python CLI — no web server required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Registry YAML → template → agent files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ReAct loop with tool routing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AgentLoop, CostTracker, HITLGate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MessageBus task queue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ModelRouter with provider fallback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Least-privilege agent permissions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Bandit static analysis, pre-commit hooks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70A40"/>
                </a:solidFill>
                <a:latin typeface="Arial"/>
              </a:defRPr>
            </a:pPr>
            <a:r>
              <a:rPr sz="1600" b="1">
                <a:solidFill>
                  <a:srgbClr val="070A40"/>
                </a:solidFill>
                <a:latin typeface="Arial"/>
              </a:rPr>
              <a:t>How it earns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397763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SaaS subscription — platform access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Usage — LLM pass-through plus margin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Enterprise — deployment, SLA, support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Services — implementation engagements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Unit economics targets: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Gross margin — pending CFO model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LLM cost — pending CFO model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•  CAC payback — pending CFO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3400"/>
            <a:ext cx="8138160" cy="9601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50799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One product, three ways to buy it: a subscription for platform access, usage billed on top, and an implementation engagement where the client wants delivery as well as software. The same system runs this company.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TRACTION &amp;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70A40"/>
                </a:solidFill>
                <a:latin typeface="Arial"/>
              </a:defRPr>
            </a:pPr>
            <a:r>
              <a:rPr sz="1600" b="1">
                <a:solidFill>
                  <a:srgbClr val="070A40"/>
                </a:solidFill>
                <a:latin typeface="Arial"/>
              </a:rPr>
              <a:t>Built and 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Platform shipped; agent registry in production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Multi-provider routing with cost enforcement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Human approval gates ratified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Audit trail and test suite in place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Corporate Blueprint adopted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3946"/>
                </a:solidFill>
                <a:latin typeface="Arial"/>
              </a:defRPr>
            </a:pPr>
            <a:r>
              <a:rPr sz="1600" b="1">
                <a:solidFill>
                  <a:srgbClr val="E63946"/>
                </a:solidFill>
                <a:latin typeface="Arial"/>
              </a:rPr>
              <a:t>Not 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3931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No paying clients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No signed pilots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No revenue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No external validation of the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06240"/>
            <a:ext cx="8138160" cy="9601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370831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This raise funds the first paid pilots. Progress is measured by signed pilots, not by features shipped — so the next version of this slide should be a list of clients, not a list of capabilities.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70A40"/>
                </a:solidFill>
                <a:latin typeface="Arial"/>
              </a:defRPr>
            </a:pPr>
            <a:r>
              <a:rPr sz="1600" b="1">
                <a:solidFill>
                  <a:srgbClr val="070A40"/>
                </a:solidFill>
                <a:latin typeface="Arial"/>
              </a:rPr>
              <a:t>Who else is in the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3977639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Agent frameworks (LangGraph, CrewAI) — developer tools, no organization layer or governance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Workflow automation (n8n, Zapier) — task pipelines, not agent organizations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Assistant SaaS (ChatGPT Business, Copilot) — single assistant, no role hierarchy or cost control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Custom builds — high engineering cost, no reusable control plane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3946"/>
                </a:solidFill>
                <a:latin typeface="Arial"/>
              </a:defRPr>
            </a:pPr>
            <a:r>
              <a:rPr sz="1600" b="1">
                <a:solidFill>
                  <a:srgbClr val="E63946"/>
                </a:solidFill>
                <a:latin typeface="Arial"/>
              </a:rPr>
              <a:t>What we do differently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3977639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✓  Organization structure, not a single agent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✓  Cost transparency and budget enforcement built in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✓  Human approval gates as a first-class feature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✓  Multi-provider, with automatic fallback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✓  Local-first inference for low-connectivity settings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✓  Governance and escalation rules shipped as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34840"/>
            <a:ext cx="8138160" cy="9601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599431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We are not competing on model access — the models are commodities and anyone can call them. We compete on the control plane around them: who may act, what it costs, and who signs 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70A40"/>
                </a:solidFill>
                <a:latin typeface="Arial"/>
              </a:defRPr>
            </a:pPr>
            <a:r>
              <a:rPr sz="1600" b="1">
                <a:solidFill>
                  <a:srgbClr val="070A40"/>
                </a:solidFill>
                <a:latin typeface="Arial"/>
              </a:rPr>
              <a:t>Leadership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3977639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Jack Mlusu — Founder &amp; CEO</a:t>
            </a:r>
          </a:p>
          <a:p>
            <a:pPr marL="402336" indent="-201168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Builder-operator; runs the company on the platform it sells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AI Executive Cabinet</a:t>
            </a:r>
          </a:p>
          <a:p>
            <a:pPr marL="402336" indent="-201168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CTO, CFO, CMO, CLO, CSO, COO, CAIO — operating agents under human approval gates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Board of Directors</a:t>
            </a:r>
          </a:p>
          <a:p>
            <a:pPr marL="402336" indent="-201168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  Standing committees: Strategy, Finance, Risk, Technology, Product, Customer,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3946"/>
                </a:solidFill>
                <a:latin typeface="Arial"/>
              </a:defRPr>
            </a:pPr>
            <a:r>
              <a:rPr sz="1600" b="1">
                <a:solidFill>
                  <a:srgbClr val="E63946"/>
                </a:solidFill>
                <a:latin typeface="Arial"/>
              </a:rPr>
              <a:t>Hiring with this raise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397763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Platform Licensing Sales Lead — priority one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Delivery Lead for chatbot and compliance offers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Compliance Officer</a:t>
            </a:r>
          </a:p>
          <a:p>
            <a:pPr marL="219456" indent="-219456"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•  Developer Relations Engineer</a:t>
            </a: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070A40"/>
                </a:solidFill>
                <a:latin typeface="Arial"/>
              </a:defRPr>
            </a:pPr>
            <a:r>
              <a:rPr sz="1200">
                <a:solidFill>
                  <a:srgbClr val="070A40"/>
                </a:solidFill>
                <a:latin typeface="Arial"/>
              </a:rPr>
              <a:t>Human hires, not agent seats: clients buy from people.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709160"/>
            <a:ext cx="8138160" cy="960120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873752"/>
            <a:ext cx="7680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The operating model already exists: a five-tier approval matrix, named escalation routes and an audit trail, applied to agents as well as people. The hiring plan adds the human roles that sell and deliver.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Arial"/>
              </a:defRPr>
            </a:pPr>
            <a:r>
              <a:rPr sz="3200" b="1">
                <a:solidFill>
                  <a:srgbClr val="FFFFFF"/>
                </a:solidFill>
                <a:latin typeface="Arial"/>
              </a:rPr>
              <a:t>THE 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1234440"/>
            <a:ext cx="2743200" cy="36576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BFFF"/>
                </a:solidFill>
                <a:latin typeface="Arial"/>
              </a:defRPr>
            </a:pPr>
            <a:r>
              <a:rPr sz="2400" b="0">
                <a:solidFill>
                  <a:srgbClr val="00BFFF"/>
                </a:solidFill>
                <a:latin typeface="Arial"/>
              </a:rPr>
              <a:t>Raising seed capital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CA3AF"/>
                </a:solidFill>
                <a:latin typeface="Arial"/>
              </a:defRPr>
            </a:pPr>
            <a:r>
              <a:rPr sz="1200" b="1">
                <a:solidFill>
                  <a:srgbClr val="9CA3AF"/>
                </a:solidFill>
                <a:latin typeface="Arial"/>
              </a:rPr>
              <a:t>Amount, instrument and runway: pending board decision — not stated in this draft.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060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rPr sz="1400" b="1">
                <a:solidFill>
                  <a:srgbClr val="FFFFFF"/>
                </a:solidFill>
                <a:latin typeface="Arial"/>
              </a:rPr>
              <a:t>Use of funds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Talent — sales, delivery, compliance, DevRel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Client pilots — Offers A, B and C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Hardware lab — on-prem GPU, field kits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Compliance — Malawi DPA 2017, GDPR, SOC 2 readiness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Emergency reserve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6060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rPr sz="1400" b="1">
                <a:solidFill>
                  <a:srgbClr val="FFFFFF"/>
                </a:solidFill>
                <a:latin typeface="Arial"/>
              </a:rPr>
              <a:t>Milestones this buys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301752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Signed paying pilots across Offers A–C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Recurring revenue run-rate established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Governance gates operating under audit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  <a:latin typeface="Arial"/>
              </a:defRPr>
            </a:pPr>
            <a:r>
              <a:rPr sz="1200">
                <a:solidFill>
                  <a:srgbClr val="FFFFFF"/>
                </a:solidFill>
                <a:latin typeface="Arial"/>
              </a:rPr>
              <a:t>Repeatable delivery playbook per offer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5074920"/>
            <a:ext cx="4572000" cy="27432"/>
          </a:xfrm>
          <a:prstGeom prst="rect">
            <a:avLst/>
          </a:prstGeom>
          <a:solidFill>
            <a:srgbClr val="00B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25780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rPr sz="1400" b="1">
                <a:solidFill>
                  <a:srgbClr val="FFFFFF"/>
                </a:solidFill>
                <a:latin typeface="Arial"/>
              </a:rPr>
              <a:t>We are asking for a first institutional round to fund paying pilots across Offers A, B and C, and to make the four hires above.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0BFFF"/>
                </a:solidFill>
                <a:latin typeface="Arial"/>
              </a:defRPr>
            </a:pPr>
            <a:r>
              <a:rPr sz="1200" b="1">
                <a:solidFill>
                  <a:srgbClr val="00BFFF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70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70A40"/>
                </a:solidFill>
                <a:latin typeface="Arial"/>
              </a:defRPr>
            </a:pPr>
            <a:r>
              <a:rPr sz="2800" b="1">
                <a:solidFill>
                  <a:srgbClr val="070A40"/>
                </a:solidFill>
                <a:latin typeface="Arial"/>
              </a:rPr>
              <a:t>RISKS &amp; HOW WE MITIGATE THEM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8138160" cy="713232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61872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Dependence on third-party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0" y="1261872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Multi-provider routing with automatic fallback; local inference option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8138160" cy="713232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084832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Regulatory and data-protection exposure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2084832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Malawi DPA 2017 controls, GDPR opinion, SOC 2 readiness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34640"/>
            <a:ext cx="8138160" cy="713232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907792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Single-founder execution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2907792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Named hiring plan; agent cabinet under human approval gates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657600"/>
            <a:ext cx="8138160" cy="713232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730752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Selling ahead of proof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3730752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Pilots capped in scope and budget; no scale claims before delivery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480560"/>
            <a:ext cx="8138160" cy="713232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553712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Cost overrun on inference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4553712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Per-agent budgets and cost enforcement, not after-the-fact reporting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303520"/>
            <a:ext cx="8138160" cy="713232"/>
          </a:xfrm>
          <a:prstGeom prst="round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376672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Concentration in one market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60" y="5376672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70A40"/>
                </a:solidFill>
                <a:latin typeface="Arial"/>
              </a:defRPr>
            </a:pPr>
            <a:r>
              <a:rPr sz="1200" b="0">
                <a:solidFill>
                  <a:srgbClr val="070A40"/>
                </a:solidFill>
                <a:latin typeface="Arial"/>
              </a:rPr>
              <a:t>SADC-first, with offers designed for remote delivery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070A40"/>
                </a:solidFill>
                <a:latin typeface="Arial"/>
              </a:defRPr>
            </a:pPr>
            <a:r>
              <a:rPr sz="1200" b="1">
                <a:solidFill>
                  <a:srgbClr val="070A40"/>
                </a:solidFill>
                <a:latin typeface="Arial"/>
              </a:rPr>
              <a:t>INTERNAL DRAFT — NOT FOR EXTERNAL DISTRIBUTION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LightSpeed Holdings — INTERNAL DRAFT pitch deck</dc:title>
  <dc:subject>Internal draft. Not for external distribution.</dc:subject>
  <dc:creator/>
  <cp:keywords>internal draft; not for external distribution; unverified figures</cp:keywords>
  <dc:description>DRAFT ONLY. Figures are unsourced and unverified (docs/claims.yaml has no verified claims). Do not send to investors until verify-deck.py exits 0 with an APPROVE QA verdict.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Internal draft</cp:category>
</cp:coreProperties>
</file>