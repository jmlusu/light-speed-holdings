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LIGHTSPEED HOLDINGS LIMITED™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FFF"/>
                </a:solidFill>
                <a:latin typeface="Arial"/>
              </a:defRPr>
            </a:pPr>
            <a:r>
              <a:t>Aspire. Act. Achieve.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Regulator Briefing</a:t>
            </a:r>
            <a:br/>
            <a:r>
              <a:t>Malawi’s Governed AI-Native Potential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BFFF"/>
                </a:solidFill>
                <a:latin typeface="Arial"/>
              </a:defRPr>
            </a:pPr>
            <a:r>
              <a:t>Open by design. Governed by construction.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Arial"/>
              </a:defRPr>
            </a:pPr>
            <a:r>
              <a:t>September 2026  |  Prepared for Malawi regulators (MACRA / DPA)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PURPOSE OF THIS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Who we are  —  an AI-native services studio incorporated in Malawi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What we operate  —  150+ AI agents across 20 departments, one human CEO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How we are governed  —  human-in-the-loop at every high-stakes step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What compliance means to us  —  Data Protection Act (2024) + GDPR from day one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Why the regulator matters  —  we want to be tested, then held to account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63440"/>
            <a:ext cx="7315200" cy="1371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846320"/>
            <a:ext cx="6766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70A40"/>
                </a:solidFill>
                <a:latin typeface="Arial"/>
              </a:defRPr>
            </a:pPr>
            <a:r>
              <a:t>This briefing is a transparency artifact.</a:t>
            </a:r>
            <a:br/>
            <a:r>
              <a:t>We publish how we work — and invite scrutiny.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WHY NOW — MALAWI’S POLICY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Data Protection Act (2024) in force since 3 June 2024; MACRA is the designated Data Protection Authority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Legally binding rights already apply to AI: no solely automated decisions with significant effects; DPIA duties for high-risk processing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No dedicated AI statute yet — the rules are being written now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Draft National AI Strategy + Digital Transformation Strategy under validation (Ministry of Information and Digitalisation, with UNDP)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UNESCO AI Readiness Assessment (RAM) validated July 2026 — Malawi among six southern African pilot countries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Draft AI Bill announced August 2026 — to be tabled before December 2026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MACRA published a draft AI regulatory framework for public comment (Sept 2026) — agentic transparency &amp; consumer protection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t>Regional anchors: AU Continental AI Strategy (2024); SADC agentic-AI governance framework in drafting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394960"/>
            <a:ext cx="7315200" cy="10972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5577840"/>
            <a:ext cx="67665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70A40"/>
                </a:solidFill>
                <a:latin typeface="Arial"/>
              </a:defRPr>
            </a:pPr>
            <a:r>
              <a:t>LightSpeed wants to co-build this regime — not wait for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WHO WE ARE — THE AI-NATIVE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70A40"/>
                </a:solidFill>
                <a:latin typeface="Arial"/>
              </a:defRPr>
            </a:pPr>
            <a:r>
              <a:t>One human CEO owns the outcome. 150+ AI agents execute the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Delivery pipeline: client brief → task queue → assigned agents → human CEO review → client deliverable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Departments span engineering, design, marketing, sales, legal, compliance, HR, finance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Every agent action is logged and queryable — nothing executes silently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We win on speed, cost, and 24/7 capacity — never by impersonating human staff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Established track record (We Lead Out — 5.0 AppExchange rating; 20+ projects shipped)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150+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AI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493776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5074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Departments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93776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5074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Human CEO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HOW WE DELIVER — THE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1.  Client brief — scope, price, contract (50% upfront / 50% on delivery)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2.  4-gate onboarding — contract, data-processing agreement, compliance risk assessment, security review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3.  Task dispatch — work routed to the right department queue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4.  Agent execution — audited, logged, bounded by policy and risk tier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5.  Human review — CEO / executive sign-off on every deliverable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6.  Handover — client receives a usable artifact + its audit trail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46320"/>
            <a:ext cx="7315200" cy="1371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5029200"/>
            <a:ext cx="6766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70A40"/>
                </a:solidFill>
                <a:latin typeface="Arial"/>
              </a:defRPr>
            </a:pPr>
            <a:r>
              <a:t>Humans approve. Agents execute. The audit trail proves both.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WHAT WE DELIVER — FIVE OFFERS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51760" cy="2377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3946"/>
                </a:solidFill>
                <a:latin typeface="Arial"/>
              </a:defRPr>
            </a:pPr>
            <a:r>
              <a:t>Offer A: Digital Presence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From MWK 150,000 (~$85)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Websites, e-commerce, brand identity, Google Business, social media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97280"/>
            <a:ext cx="2651760" cy="2377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3946"/>
                </a:solidFill>
                <a:latin typeface="Arial"/>
              </a:defRPr>
            </a:pPr>
            <a:r>
              <a:t>Offer B: Process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From MWK 900,000 (~$500)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WhatsApp chatbots, document generators, survey automation, dashboards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097280"/>
            <a:ext cx="2651760" cy="2377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3946"/>
                </a:solidFill>
                <a:latin typeface="Arial"/>
              </a:defRPr>
            </a:pPr>
            <a:r>
              <a:t>Offer E: Platform Licensing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$49–$299/mo (SaaS)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92024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AI Company Builder for agencies &amp; developers — licensed, audited 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2651760" cy="2377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49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3946"/>
                </a:solidFill>
                <a:latin typeface="Arial"/>
              </a:defRPr>
            </a:pPr>
            <a:r>
              <a:t>Offer C: Data &amp;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From MWK 700,000 (~$400)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805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Data cleaning, donor reports, dashboards, survey design — NGO reporting 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657600"/>
            <a:ext cx="2651760" cy="23774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3749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3946"/>
                </a:solidFill>
                <a:latin typeface="Arial"/>
              </a:defRPr>
            </a:pPr>
            <a:r>
              <a:t>Offer D: Digital 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70A40"/>
                </a:solidFill>
                <a:latin typeface="Arial"/>
              </a:defRPr>
            </a:pPr>
            <a:r>
              <a:t>From MWK 350,000/mo (~$200/mo)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4805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Social media management, content packs, Google/Facebook ad campaigns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70A40"/>
                </a:solidFill>
                <a:latin typeface="Arial"/>
              </a:defRPr>
            </a:pPr>
            <a:r>
              <a:t>Dual-currency: MWK for local SMEs  |  USD for NGOs &amp; international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POTENTIAL FOR MALAWI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SME digitalization at MWK prices — websites, e-commerce, chatbots previously out of reach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NGO &amp; donor reporting in days, not weeks — USD revenue into the local economy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Digital skills: Malawians learn to operate agentic systems, not just consume them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Enterprise-grade output without mass hiring — a capital-light, job-positive model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A proven Malawi playbook that SADC neighbours (16 states, 300M+ people) can adopt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First customer-facing proof targeted by 90 days — MWK 5,000,000 revenue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212080"/>
            <a:ext cx="731520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539496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70A40"/>
                </a:solidFill>
                <a:latin typeface="Arial"/>
              </a:defRPr>
            </a:pPr>
            <a:r>
              <a:t>If governed AI-native delivery works in Malawi, it works anywhere.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GOVERNED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5-tier approval matrix — human sign-off scales with risk; high-stakes = mandatory HITL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Risk-classified agent tiers — autonomous execution only within defined boundaries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Board of Directors with 7 standing committees; Corporate Constitution sets decision order &amp; escalation SLAs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4-gate client onboarding (G1–G4) — contract, DPA, compliance risk, security review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Programmatic kill switches, circuit breakers, and rate limiters on agent execution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Separation of duties: proposer ≠ approver ≠ executor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Approval Tiers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512064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High-Stakes Human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12064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Onboarding Gates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DATA PROTECTION &amp; PRIVACY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Compliant with the Data Protection Act (2024) and GDPR from day one — not retrofitted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Client data is never used to train models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Sovereign in-country processing; offline-first architecture with local models where required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Cross-border LLM flows documented, risk-assessed, and consent-based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High-risk processing subject to Data Protection Impact Assessment (DPIA)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Respects the right not to be subject to solely automated decisions with significant effects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212080"/>
            <a:ext cx="731520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539496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70A40"/>
                </a:solidFill>
                <a:latin typeface="Arial"/>
              </a:defRPr>
            </a:pPr>
            <a:r>
              <a:t>We treat the DPA’s automated-decision and DPIA duties as the specification for agentic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TRANSPARENCY &amp; CONSUMER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Clients are told when AI is involved — no impersonation of human staff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Honesty badges on every claim: source-tagged, confidence-labelled output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A human can always be reached — chat and WhatsApp flows hand off to a person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Clear recourse: every deliverable has an accountable human + a dispute channel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Consent-based data use; customer data serves the service, not ad models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Aligned with MACRA’s draft framework themes: agentic transparency + consumer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212080"/>
            <a:ext cx="731520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539496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70A40"/>
                </a:solidFill>
                <a:latin typeface="Arial"/>
              </a:defRPr>
            </a:pPr>
            <a:r>
              <a:t>A consumer should never need to guess whether they are talking to a machine — or to whom they can complain.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AUDIT &amp;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Immutable audit trail — every agent action, decision, and approval logged and queryable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RACI matrices — who is accountable for every workflow step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Escalation SLAs and a postmortem process for incidents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1,800+ automated tests; ruff + mypy + bandit clean on the platform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Agency-as-instrument: agents hold no legal personality; liability rests with LightSpeed Holdings Limited as the deploying entity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Regulator access: technical read of control architecture, on demand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1,800+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Automated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512064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Actions Logged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120640"/>
            <a:ext cx="256032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5257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70A4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5806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Arial"/>
              </a:defRPr>
            </a:pPr>
            <a:r>
              <a:t>Accountable Entity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ALIGNED WITH NATIONAL &amp; REGIONAL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Malawi National AI Strategy  —  submitted formal consultation comments; proposed governance architecture &amp; lighthouse use cases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UNESCO AI Readiness (RAM)  —  readiness to operate under the validated assessment for southern Africa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SADC Agentic AI Governance Framework  —  graduated autonomy tiers, machine-readable agent credentials, immutable audit trails, data sovereignty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AU Continental AI Strategy (2024)  —  aligned operational posture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t>Cross-border principle  —  agents hosted in Malawi execute abroad under documented, consent-based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212080"/>
            <a:ext cx="731520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539496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70A40"/>
                </a:solidFill>
                <a:latin typeface="Arial"/>
              </a:defRPr>
            </a:pPr>
            <a:r>
              <a:t>We do not wait for the rules to be written. We build the controls the rules will require.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t>HOW WE WISH TO WORK WITH MACRA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Technical briefings  —  agentic architecture, audit trails, and controls, explained by the operator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Consultation partner  —  substantive input to the National AI Strategy and draft AI framework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Lighthouse pilot  —  a citizen-inquiry or legislative-summary agent for a public-sector partner, fully supervised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Transparency on demand  —  we publish how we work and open the control architecture to review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t>Report line  —  a named compliance contact for the regulator to reach at any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212080"/>
            <a:ext cx="7315200" cy="11887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539496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70A40"/>
                </a:solidFill>
                <a:latin typeface="Arial"/>
              </a:defRPr>
            </a:pPr>
            <a:r>
              <a:t>The ask is simple: engage with us, test us, then hold us to the standard we publish.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FFF"/>
                </a:solidFill>
                <a:latin typeface="Arial"/>
              </a:defRPr>
            </a:pPr>
            <a:r>
              <a:t>Aspire. Act. Achieve.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Jack Mlusu, Founder &amp; CEO</a:t>
            </a:r>
            <a:br/>
            <a:r>
              <a:t>jmlusu@gmail.com</a:t>
            </a:r>
            <a:br/>
            <a:r>
              <a:t>+265 (0) 980 016 004</a:t>
            </a:r>
            <a:br/>
            <a:r>
              <a:t>lightspeedholdings.com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FFF"/>
                </a:solidFill>
                <a:latin typeface="Arial"/>
              </a:defRPr>
            </a:pPr>
            <a:r>
              <a:t>Open by design. Governed by construction.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