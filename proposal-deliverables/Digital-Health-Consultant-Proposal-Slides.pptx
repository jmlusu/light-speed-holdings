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03A"/>
                </a:solidFill>
                <a:latin typeface="Arial"/>
              </a:rPr>
              <a:t>TECHNICAL &amp; FINANCIAL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9966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FFFFFF"/>
                </a:solidFill>
                <a:latin typeface="Arial"/>
              </a:rPr>
              <a:t>MaHIS–iCHIS Integration for</a:t>
            </a:r>
          </a:p>
          <a:p>
            <a:pPr algn="l"/>
            <a:r>
              <a:rPr sz="3700" b="1" i="0">
                <a:solidFill>
                  <a:srgbClr val="FFFFFF"/>
                </a:solidFill>
                <a:latin typeface="Arial"/>
              </a:rPr>
              <a:t>Maternal &amp; Newborn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9966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7F5F0"/>
                </a:solidFill>
                <a:latin typeface="Arial"/>
              </a:rPr>
              <a:t>Technical Architecture &amp; Costed Roadmap · ACHIEVE Project · Malawi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526280"/>
            <a:ext cx="3291840" cy="27432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9966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Last Mile Health  ×  Ministry of Health &amp; Sanitation</a:t>
            </a:r>
          </a:p>
          <a:p>
            <a:pPr algn="l"/>
            <a:r>
              <a:rPr sz="1100" b="0" i="0">
                <a:solidFill>
                  <a:srgbClr val="F7F5F0"/>
                </a:solidFill>
                <a:latin typeface="Arial"/>
              </a:rPr>
              <a:t>Lilongwe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The ACHIEVE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40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5623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What ACHIEVE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83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US Department of State–funded initiative implemented by Pact and partners to accelerate sustainable reductions in maternal, neonatal and child mortality across pregnancy, childbirth, postnatal and early childhood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1" y="1691640"/>
            <a:ext cx="5440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85623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Where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240280"/>
            <a:ext cx="4983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Karonga, Balaka, Thyolo and Zomba districts. Last Mile Health leads the design and implementation of iCHIS-driven interventions in Balaka district.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69080"/>
            <a:ext cx="5440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3367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Objective 3 — system strengthening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4983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Strengthening emergency referral systems, commodity management and supply chain, enhanced use of data for decision-making, and preparedness for public health emergencies.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1" y="4069080"/>
            <a:ext cx="544068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423367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LMH Strategic Objectives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617720"/>
            <a:ext cx="4983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SO1: Enhance iCHIS functionality and develop the architecture and costed roadmap for MaHIS–iCHIS integration for improved MNH outcomes. SO2: Build CHW capacity in Balaka on iCHIS and community-based maternal &amp; neonatal care (CBMNC).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Two Systems, One Continuum of Care — Not Yet Connected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92224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3B42"/>
                </a:solidFill>
                <a:latin typeface="Arial"/>
              </a:rPr>
              <a:t>MaHIS captures facility data; iCHIS captures community data — parallel worlds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633472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3B42"/>
                </a:solidFill>
                <a:latin typeface="Arial"/>
              </a:rPr>
              <a:t>Duplicate entry of MNH service data into national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84448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474720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3B42"/>
                </a:solidFill>
                <a:latin typeface="Arial"/>
              </a:rPr>
              <a:t>Manual reconciliation delays reports and degrades quality.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25696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315968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3B42"/>
                </a:solidFill>
                <a:latin typeface="Arial"/>
              </a:rPr>
              <a:t>Referrals between HSAs and facilities are rarely tracked to closure.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66944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157216"/>
            <a:ext cx="5394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3B42"/>
                </a:solidFill>
                <a:latin typeface="Arial"/>
              </a:rPr>
              <a:t>Decision-makers lack visibility of the full continuum of MNH care.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783080"/>
            <a:ext cx="2286000" cy="1097280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iCHIS</a:t>
            </a:r>
          </a:p>
          <a:p>
            <a:pPr algn="ctr"/>
            <a:r>
              <a:rPr sz="950" b="0" i="0">
                <a:solidFill>
                  <a:srgbClr val="F7F5F0"/>
                </a:solidFill>
                <a:latin typeface="Arial"/>
              </a:rPr>
              <a:t>Community level — HSAs / CHWs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783080"/>
            <a:ext cx="2286000" cy="1097280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MaHIS</a:t>
            </a:r>
          </a:p>
          <a:p>
            <a:pPr algn="ctr"/>
            <a:r>
              <a:rPr sz="950" b="0" i="0">
                <a:solidFill>
                  <a:srgbClr val="F7F5F0"/>
                </a:solidFill>
                <a:latin typeface="Arial"/>
              </a:rPr>
              <a:t>Facility / HMIS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6528" y="2148840"/>
            <a:ext cx="530352" cy="36576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571231" y="2971800"/>
            <a:ext cx="310896" cy="502920"/>
          </a:xfrm>
          <a:prstGeom prst="down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10323576" y="2971800"/>
            <a:ext cx="310896" cy="502920"/>
          </a:xfrm>
          <a:prstGeom prst="down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3611880"/>
            <a:ext cx="5029200" cy="1097280"/>
          </a:xfrm>
          <a:prstGeom prst="rect">
            <a:avLst/>
          </a:prstGeom>
          <a:solidFill>
            <a:srgbClr val="1C3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Delayed, duplicated MNH reporting · weak referral closure · weak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377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A6B6E"/>
                </a:solidFill>
                <a:latin typeface="Arial"/>
              </a:rPr>
              <a:t>Integration closes this gap — one trusted flow of MNH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Understanding of the Assignment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2286000" cy="713232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719072"/>
            <a:ext cx="86227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801368"/>
            <a:ext cx="8183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MaHIS (facility / HMIS) ↔ iCHIS (community), with DHIS2 as the national analytics backbone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2286000" cy="713232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Data domains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651760"/>
            <a:ext cx="86227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734056"/>
            <a:ext cx="8183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CHW registrations · service delivery data · stock / commodity data · priority MNH indicators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84448"/>
            <a:ext cx="2286000" cy="713232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Use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584448"/>
            <a:ext cx="86227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666744"/>
            <a:ext cx="8183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Automatic submission of CHW monthly summaries into HMIS · two-way referral tracking · consolidated MNH dashboards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17136"/>
            <a:ext cx="2286000" cy="713232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Standards frame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517136"/>
            <a:ext cx="86227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4599431"/>
            <a:ext cx="8183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National digital health architecture &amp; governance standards; HL7 FHIR, OpenHIE profiles, DHIS2 data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49824"/>
            <a:ext cx="2286000" cy="713232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Constraints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5449824"/>
            <a:ext cx="86227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5532120"/>
            <a:ext cx="8183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~6.5-week window · USD 3,000–4,000/month fee band · co-location in Lilongwe · Malawian national consultant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From Discovery to Donor-Ready Package in Five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211226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202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8703A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957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3B42"/>
                </a:solidFill>
                <a:latin typeface="Arial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26080"/>
            <a:ext cx="1783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Document review · 8–10 interviews · 2 district site visits · vendor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114800"/>
            <a:ext cx="1783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5A66"/>
                </a:solidFill>
                <a:latin typeface="Arial"/>
              </a:rPr>
              <a:t>Output:  </a:t>
            </a:r>
            <a:r>
              <a:rPr sz="950" b="0" i="0">
                <a:solidFill>
                  <a:srgbClr val="1C3B42"/>
                </a:solidFill>
                <a:latin typeface="Arial"/>
              </a:rPr>
              <a:t>Validated current-state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3492" y="1783080"/>
            <a:ext cx="211226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8084" y="19202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8703A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8084" y="23957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3B42"/>
                </a:solidFill>
                <a:latin typeface="Arial"/>
              </a:rPr>
              <a:t>Architecture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8084" y="2926080"/>
            <a:ext cx="1783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Pattern options analysis · selection workshop with MoH interoperability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8084" y="4114800"/>
            <a:ext cx="1783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5A66"/>
                </a:solidFill>
                <a:latin typeface="Arial"/>
              </a:rPr>
              <a:t>Output:  </a:t>
            </a:r>
            <a:r>
              <a:rPr sz="950" b="0" i="0">
                <a:solidFill>
                  <a:srgbClr val="1C3B42"/>
                </a:solidFill>
                <a:latin typeface="Arial"/>
              </a:rPr>
              <a:t>Endorsed integration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8344" y="1783080"/>
            <a:ext cx="211226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2936" y="19202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8703A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23957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3B42"/>
                </a:solidFill>
                <a:latin typeface="Arial"/>
              </a:rPr>
              <a:t>Requirements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926080"/>
            <a:ext cx="1783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FR/NFR workshops · data-mapping matrix · OpenAPI 3.0 draft · security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4114800"/>
            <a:ext cx="1783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5A66"/>
                </a:solidFill>
                <a:latin typeface="Arial"/>
              </a:rPr>
              <a:t>Output:  </a:t>
            </a:r>
            <a:r>
              <a:rPr sz="950" b="0" i="0">
                <a:solidFill>
                  <a:srgbClr val="1C3B42"/>
                </a:solidFill>
                <a:latin typeface="Arial"/>
              </a:rPr>
              <a:t>Technical requirements document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83196" y="1783080"/>
            <a:ext cx="211226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7788" y="19202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8703A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7788" y="23957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3B42"/>
                </a:solidFill>
                <a:latin typeface="Arial"/>
              </a:rPr>
              <a:t>Roadmap &amp; costing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7788" y="2926080"/>
            <a:ext cx="1783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Four-phase plan · People / Platforms / Process / TTV pillars · donor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7788" y="4114800"/>
            <a:ext cx="1783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5A66"/>
                </a:solidFill>
                <a:latin typeface="Arial"/>
              </a:rPr>
              <a:t>Output:  </a:t>
            </a:r>
            <a:r>
              <a:rPr sz="950" b="0" i="0">
                <a:solidFill>
                  <a:srgbClr val="1C3B42"/>
                </a:solidFill>
                <a:latin typeface="Arial"/>
              </a:rPr>
              <a:t>Costed implementation roadmap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8048" y="1783080"/>
            <a:ext cx="211226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9202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8703A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395728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3B42"/>
                </a:solidFill>
                <a:latin typeface="Arial"/>
              </a:rPr>
              <a:t>Risk &amp; consolidation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926080"/>
            <a:ext cx="1783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P×I risk workshop · mitigation planning · executive summary · deck assembly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114800"/>
            <a:ext cx="1783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5A66"/>
                </a:solidFill>
                <a:latin typeface="Arial"/>
              </a:rPr>
              <a:t>Output:  </a:t>
            </a:r>
            <a:r>
              <a:rPr sz="950" b="0" i="0">
                <a:solidFill>
                  <a:srgbClr val="1C3B42"/>
                </a:solidFill>
                <a:latin typeface="Arial"/>
              </a:rPr>
              <a:t>Final package + presentation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11091672" cy="640080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Government-first   ·   Standards-based (FHIR / OpenHIE)   ·   Evidence-led   ·   Cost honesty   ·   Donor-ready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INDICATIVE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A Standards-Based Interoperability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2834640" cy="1188720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iCHIS</a:t>
            </a:r>
          </a:p>
          <a:p>
            <a:pPr algn="ctr"/>
            <a:r>
              <a:rPr sz="950" b="0" i="0">
                <a:solidFill>
                  <a:srgbClr val="F7F5F0"/>
                </a:solidFill>
                <a:latin typeface="Arial"/>
              </a:rPr>
              <a:t>Community level — HSAs / CHWs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39312" y="2596896"/>
            <a:ext cx="566928" cy="292608"/>
          </a:xfrm>
          <a:prstGeom prst="right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2148840"/>
            <a:ext cx="3611880" cy="1188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Interoperability layer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Arial"/>
              </a:rPr>
              <a:t>OpenHIM + FHIR APIs (OpenHIE-aligned)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64424" y="2596896"/>
            <a:ext cx="566928" cy="292608"/>
          </a:xfrm>
          <a:prstGeom prst="right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04504" y="2148840"/>
            <a:ext cx="2834640" cy="1188720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MaHIS</a:t>
            </a:r>
          </a:p>
          <a:p>
            <a:pPr algn="ctr"/>
            <a:r>
              <a:rPr sz="950" b="0" i="0">
                <a:solidFill>
                  <a:srgbClr val="F7F5F0"/>
                </a:solidFill>
                <a:latin typeface="Arial"/>
              </a:rPr>
              <a:t>Facility / HMIS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16168" y="3429000"/>
            <a:ext cx="329184" cy="438912"/>
          </a:xfrm>
          <a:prstGeom prst="downArrow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26864" y="3931920"/>
            <a:ext cx="2926080" cy="868680"/>
          </a:xfrm>
          <a:prstGeom prst="rect">
            <a:avLst/>
          </a:prstGeom>
          <a:solidFill>
            <a:srgbClr val="1C3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DHIS2</a:t>
            </a:r>
          </a:p>
          <a:p>
            <a:pPr algn="ctr"/>
            <a:r>
              <a:rPr sz="950" b="0" i="0">
                <a:solidFill>
                  <a:srgbClr val="F7F5F0"/>
                </a:solidFill>
                <a:latin typeface="Arial"/>
              </a:rPr>
              <a:t>National analytics &amp; 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5029200"/>
            <a:ext cx="3611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0" b="0" i="0">
                <a:solidFill>
                  <a:srgbClr val="5A6B6E"/>
                </a:solidFill>
                <a:latin typeface="Arial"/>
              </a:rPr>
              <a:t>OAuth2 · TLS encryption · audit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A6B6E"/>
                </a:solidFill>
                <a:latin typeface="Arial"/>
              </a:rPr>
              <a:t>Starting hypothesis — confirmed or revised in Weeks 3–4 against vendor capability, infrastructure and governance findings. File-based exchange documented as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Five Decision-Grade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112264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933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703A"/>
                </a:solidFill>
                <a:latin typeface="Arial"/>
              </a:rP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95728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3B42"/>
                </a:solidFill>
                <a:latin typeface="Arial"/>
              </a:rPr>
              <a:t>Inception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246120"/>
            <a:ext cx="1234440" cy="310896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0E5A66"/>
                </a:solidFill>
                <a:latin typeface="Arial"/>
              </a:rPr>
              <a:t>End 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03320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E"/>
                </a:solidFill>
                <a:latin typeface="Arial"/>
              </a:rPr>
              <a:t>Scope, RACI &amp; workplan signed off; ≥10 risks logged; repository live.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3492" y="1828800"/>
            <a:ext cx="2112264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8084" y="19933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703A"/>
                </a:solidFill>
                <a:latin typeface="Arial"/>
              </a:rPr>
              <a:t>D2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8084" y="2395728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3B42"/>
                </a:solidFill>
                <a:latin typeface="Arial"/>
              </a:rPr>
              <a:t>Technical Architecture &amp; 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58084" y="3246120"/>
            <a:ext cx="1234440" cy="310896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0E5A66"/>
                </a:solidFill>
                <a:latin typeface="Arial"/>
              </a:rPr>
              <a:t>End Week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8084" y="3703320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E"/>
                </a:solidFill>
                <a:latin typeface="Arial"/>
              </a:rPr>
              <a:t>Validated current state; ≥30 FRs, ≥15 measurable NFRs; OpenAPI draft; compliance matrix.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8344" y="1828800"/>
            <a:ext cx="2112264" cy="3794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8344" y="1627632"/>
            <a:ext cx="1371600" cy="292608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CORE 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19933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703A"/>
                </a:solidFill>
                <a:latin typeface="Arial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395728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3B42"/>
                </a:solidFill>
                <a:latin typeface="Arial"/>
              </a:rPr>
              <a:t>Costed Implementation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02936" y="3246120"/>
            <a:ext cx="1234440" cy="310896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0E5A66"/>
                </a:solidFill>
                <a:latin typeface="Arial"/>
              </a:rPr>
              <a:t>End Week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3703320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E"/>
                </a:solidFill>
                <a:latin typeface="Arial"/>
              </a:rPr>
              <a:t>Four phases with gates; monthly costing by pillar; CAPEX/OPEX split; donor matrix.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3196" y="1828800"/>
            <a:ext cx="2112264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7788" y="19933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703A"/>
                </a:solidFill>
                <a:latin typeface="Arial"/>
              </a:rPr>
              <a:t>D4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7788" y="2395728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3B42"/>
                </a:solidFill>
                <a:latin typeface="Arial"/>
              </a:rPr>
              <a:t>Risk Analysis &amp; Mitigation 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47788" y="3246120"/>
            <a:ext cx="1234440" cy="310896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0E5A66"/>
                </a:solidFill>
                <a:latin typeface="Arial"/>
              </a:rPr>
              <a:t>Week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7788" y="3703320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E"/>
                </a:solidFill>
                <a:latin typeface="Arial"/>
              </a:rPr>
              <a:t>≥20 risks across four categories; every High/Medium risk owned with trigger.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8048" y="1828800"/>
            <a:ext cx="2112264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19933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703A"/>
                </a:solidFill>
                <a:latin typeface="Arial"/>
              </a:rPr>
              <a:t>D5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395728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C3B42"/>
                </a:solidFill>
                <a:latin typeface="Arial"/>
              </a:rPr>
              <a:t>Final Package &amp; Presentation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3246120"/>
            <a:ext cx="1234440" cy="310896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0E5A66"/>
                </a:solidFill>
                <a:latin typeface="Arial"/>
              </a:rPr>
              <a:t>30 Sep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703320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E"/>
                </a:solidFill>
                <a:latin typeface="Arial"/>
              </a:rPr>
              <a:t>Executive summary ≤2 pages; annexes; 20-slide donor deck; formal sign-off.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CORE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The Costed 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Four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C3B42"/>
                </a:solidFill>
                <a:latin typeface="Arial"/>
              </a:rPr>
              <a:t>Phase 0 · Preparation &amp; Governance</a:t>
            </a:r>
          </a:p>
          <a:p>
            <a:pPr algn="l"/>
            <a:r>
              <a:rPr sz="850" b="0" i="0">
                <a:solidFill>
                  <a:srgbClr val="5A6B6E"/>
                </a:solidFill>
                <a:latin typeface="Arial"/>
              </a:rPr>
              <a:t>Alignment, working group, data-sharing agreements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2313432"/>
            <a:ext cx="914400" cy="2743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00" b="1" i="0">
                <a:solidFill>
                  <a:srgbClr val="0E5A66"/>
                </a:solidFill>
                <a:latin typeface="Arial"/>
              </a:rPr>
              <a:t>Months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C3B42"/>
                </a:solidFill>
                <a:latin typeface="Arial"/>
              </a:rPr>
              <a:t>Phase 1 · Design &amp; Prototyping</a:t>
            </a:r>
          </a:p>
          <a:p>
            <a:pPr algn="l"/>
            <a:r>
              <a:rPr sz="850" b="0" i="0">
                <a:solidFill>
                  <a:srgbClr val="5A6B6E"/>
                </a:solidFill>
                <a:latin typeface="Arial"/>
              </a:rPr>
              <a:t>Data mapping, limited-site pilot build,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3154679"/>
            <a:ext cx="914400" cy="2743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00" b="1" i="0">
                <a:solidFill>
                  <a:srgbClr val="0E5A66"/>
                </a:solidFill>
                <a:latin typeface="Arial"/>
              </a:rPr>
              <a:t>Months 3–5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68496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C3B42"/>
                </a:solidFill>
                <a:latin typeface="Arial"/>
              </a:rPr>
              <a:t>Phase 2 · Pilot Rollout</a:t>
            </a:r>
          </a:p>
          <a:p>
            <a:pPr algn="l"/>
            <a:r>
              <a:rPr sz="850" b="0" i="0">
                <a:solidFill>
                  <a:srgbClr val="5A6B6E"/>
                </a:solidFill>
                <a:latin typeface="Arial"/>
              </a:rPr>
              <a:t>District deployment, training, monitoring &amp; refinement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3995928"/>
            <a:ext cx="914400" cy="2743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00" b="1" i="0">
                <a:solidFill>
                  <a:srgbClr val="0E5A66"/>
                </a:solidFill>
                <a:latin typeface="Arial"/>
              </a:rPr>
              <a:t>Months 6–11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9744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C3B42"/>
                </a:solidFill>
                <a:latin typeface="Arial"/>
              </a:rPr>
              <a:t>Phase 3 · Scale-Up &amp; Institutionalisation</a:t>
            </a:r>
          </a:p>
          <a:p>
            <a:pPr algn="l"/>
            <a:r>
              <a:rPr sz="850" b="0" i="0">
                <a:solidFill>
                  <a:srgbClr val="5A6B6E"/>
                </a:solidFill>
                <a:latin typeface="Arial"/>
              </a:rPr>
              <a:t>National rollout, SOPs, handover to MoH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4837176"/>
            <a:ext cx="914400" cy="2743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00" b="1" i="0">
                <a:solidFill>
                  <a:srgbClr val="0E5A66"/>
                </a:solidFill>
                <a:latin typeface="Arial"/>
              </a:rPr>
              <a:t>Months 12–18+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737360"/>
            <a:ext cx="3310128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87451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703A"/>
                </a:solidFill>
                <a:latin typeface="Arial"/>
              </a:rPr>
              <a:t>People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240280"/>
            <a:ext cx="29443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C3B42"/>
                </a:solidFill>
                <a:latin typeface="Arial"/>
              </a:rPr>
              <a:t>Integration architect, developers, data engineer, PM &amp; M&amp;E, trainers, TWG coordination — person-months × local rates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0183" y="1737360"/>
            <a:ext cx="3310128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3" y="187451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703A"/>
                </a:solidFill>
                <a:latin typeface="Arial"/>
              </a:rPr>
              <a:t>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3" y="2240280"/>
            <a:ext cx="29443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C3B42"/>
                </a:solidFill>
                <a:latin typeface="Arial"/>
              </a:rPr>
              <a:t>Middleware / API management licences, hosting &amp; storage, security tooling, maintenance retainers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3767328"/>
            <a:ext cx="3310128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3904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703A"/>
                </a:solidFill>
                <a:latin typeface="Arial"/>
              </a:rPr>
              <a:t>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270248"/>
            <a:ext cx="29443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C3B42"/>
                </a:solidFill>
                <a:latin typeface="Arial"/>
              </a:rPr>
              <a:t>Mapping &amp; terminology harmonisation, QA environments, legal &amp; DSA reviews, documentation, change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30183" y="3767328"/>
            <a:ext cx="3310128" cy="1856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3063" y="39044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703A"/>
                </a:solidFill>
                <a:latin typeface="Arial"/>
              </a:rPr>
              <a:t>Time-to-Value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3063" y="4270248"/>
            <a:ext cx="29443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C3B42"/>
                </a:solidFill>
                <a:latin typeface="Arial"/>
              </a:rPr>
              <a:t>Efficiency narrative — reduced duplication, faster reporting — and the quantified cost of delay if integration stalls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0" b="1" i="0">
                <a:solidFill>
                  <a:srgbClr val="0E5A66"/>
                </a:solidFill>
                <a:latin typeface="Arial"/>
              </a:rPr>
              <a:t>Monthly granularity · CAPEX/OPEX split · 15% contingency · benchmarked vs regional projects · mapped to Global Fund / USAID / Gavi windows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Phased Path to National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8</a:t>
            </a:r>
          </a:p>
        </p:txBody>
      </p:sp>
      <p:sp>
        <p:nvSpPr>
          <p:cNvPr id="7" name="Chevron 6"/>
          <p:cNvSpPr/>
          <p:nvPr/>
        </p:nvSpPr>
        <p:spPr>
          <a:xfrm>
            <a:off x="548640" y="1783080"/>
            <a:ext cx="3063240" cy="960120"/>
          </a:xfrm>
          <a:prstGeom prst="chevron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0 · Preparation &amp; Governance</a:t>
            </a:r>
          </a:p>
          <a:p>
            <a:pPr algn="ctr"/>
            <a:r>
              <a:rPr sz="900" b="0" i="0">
                <a:solidFill>
                  <a:srgbClr val="F7F5F0"/>
                </a:solidFill>
                <a:latin typeface="Arial"/>
              </a:rPr>
              <a:t>Months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71800"/>
            <a:ext cx="2560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Stakeholder alignment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Technical working group established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Data-sharing agreements drafted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463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8703A"/>
                </a:solidFill>
                <a:latin typeface="Arial"/>
              </a:rPr>
              <a:t>Gate: governance endorsed</a:t>
            </a:r>
          </a:p>
        </p:txBody>
      </p:sp>
      <p:sp>
        <p:nvSpPr>
          <p:cNvPr id="10" name="Chevron 9"/>
          <p:cNvSpPr/>
          <p:nvPr/>
        </p:nvSpPr>
        <p:spPr>
          <a:xfrm>
            <a:off x="3355848" y="1783080"/>
            <a:ext cx="3063240" cy="960120"/>
          </a:xfrm>
          <a:prstGeom prst="chevron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1 · Design &amp; Prototyping</a:t>
            </a:r>
          </a:p>
          <a:p>
            <a:pPr algn="ctr"/>
            <a:r>
              <a:rPr sz="900" b="0" i="0">
                <a:solidFill>
                  <a:srgbClr val="F7F5F0"/>
                </a:solidFill>
                <a:latin typeface="Arial"/>
              </a:rPr>
              <a:t>Months 3–5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2971800"/>
            <a:ext cx="2560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Detailed data mapping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Limited-site pilot development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Initial testing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48463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8703A"/>
                </a:solidFill>
                <a:latin typeface="Arial"/>
              </a:rPr>
              <a:t>Gate: pilot ready</a:t>
            </a:r>
          </a:p>
        </p:txBody>
      </p:sp>
      <p:sp>
        <p:nvSpPr>
          <p:cNvPr id="13" name="Chevron 12"/>
          <p:cNvSpPr/>
          <p:nvPr/>
        </p:nvSpPr>
        <p:spPr>
          <a:xfrm>
            <a:off x="6163055" y="1783080"/>
            <a:ext cx="3063240" cy="960120"/>
          </a:xfrm>
          <a:prstGeom prst="chevron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2 · Pilot Rollout</a:t>
            </a:r>
          </a:p>
          <a:p>
            <a:pPr algn="ctr"/>
            <a:r>
              <a:rPr sz="900" b="0" i="0">
                <a:solidFill>
                  <a:srgbClr val="F7F5F0"/>
                </a:solidFill>
                <a:latin typeface="Arial"/>
              </a:rPr>
              <a:t>Months 6–11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971800"/>
            <a:ext cx="2560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Deploy in selected districts/facilities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Train users &amp; technical staff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Monitor, troubleshoot, 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48463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8703A"/>
                </a:solidFill>
                <a:latin typeface="Arial"/>
              </a:rPr>
              <a:t>Gate: go/no-go to scale</a:t>
            </a:r>
          </a:p>
        </p:txBody>
      </p:sp>
      <p:sp>
        <p:nvSpPr>
          <p:cNvPr id="16" name="Chevron 15"/>
          <p:cNvSpPr/>
          <p:nvPr/>
        </p:nvSpPr>
        <p:spPr>
          <a:xfrm>
            <a:off x="8970263" y="1783080"/>
            <a:ext cx="3063240" cy="960120"/>
          </a:xfrm>
          <a:prstGeom prst="chevron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3 · Scale-Up &amp; Institutionalisation</a:t>
            </a:r>
          </a:p>
          <a:p>
            <a:pPr algn="ctr"/>
            <a:r>
              <a:rPr sz="900" b="0" i="0">
                <a:solidFill>
                  <a:srgbClr val="F7F5F0"/>
                </a:solidFill>
                <a:latin typeface="Arial"/>
              </a:rPr>
              <a:t>Months 12–18+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1" y="2971800"/>
            <a:ext cx="2560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National / multi-region rollout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SOPs, job aids, routine operations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C3B42"/>
                </a:solidFill>
                <a:latin typeface="Arial"/>
              </a:rPr>
              <a:t>• Handover to government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1" y="48463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8703A"/>
                </a:solidFill>
                <a:latin typeface="Arial"/>
              </a:rPr>
              <a:t>Gate: sustainable handover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A6B6E"/>
                </a:solidFill>
                <a:latin typeface="Arial"/>
              </a:rPr>
              <a:t>Durations indicative — validated and re-baselined during Weeks 5–6 of the consultancy.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WORK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Six and a Half Weeks, Seven Checkpoints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227832" cy="777240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W1–2 · Inception &amp;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322783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C3B42"/>
                </a:solidFill>
                <a:latin typeface="Arial"/>
              </a:rPr>
              <a:t>Kick-off · interviews · 2 district visits · discovery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32278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703A"/>
                </a:solidFill>
                <a:latin typeface="Arial"/>
              </a:rPr>
              <a:t>CP1 baseline · CP2 discovery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7911" y="1920240"/>
            <a:ext cx="3227832" cy="777240"/>
          </a:xfrm>
          <a:prstGeom prst="rect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W3–4 · Architecture &amp;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911" y="2880360"/>
            <a:ext cx="322783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C3B42"/>
                </a:solidFill>
                <a:latin typeface="Arial"/>
              </a:rPr>
              <a:t>Pattern selection · FR/NFR workshops · data mapping · API spec draft · clinical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1" y="4206240"/>
            <a:ext cx="32278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703A"/>
                </a:solidFill>
                <a:latin typeface="Arial"/>
              </a:rPr>
              <a:t>CP3 architecture review · CP4 requirements sign-off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7183" y="1920240"/>
            <a:ext cx="3227832" cy="77724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W5–6 · Roadmap &amp; Costing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3" y="2880360"/>
            <a:ext cx="322783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C3B42"/>
                </a:solidFill>
                <a:latin typeface="Arial"/>
              </a:rPr>
              <a:t>Phasing · four-pillar costing model · donor alignment · validation workshop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3" y="4206240"/>
            <a:ext cx="32278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703A"/>
                </a:solidFill>
                <a:latin typeface="Arial"/>
              </a:rPr>
              <a:t>CP5 roadmap sign-off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06455" y="1920240"/>
            <a:ext cx="1133856" cy="777240"/>
          </a:xfrm>
          <a:prstGeom prst="rect">
            <a:avLst/>
          </a:prstGeom>
          <a:solidFill>
            <a:srgbClr val="1C3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W7 · Risk &amp;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6455" y="2880360"/>
            <a:ext cx="113385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C3B42"/>
                </a:solidFill>
                <a:latin typeface="Arial"/>
              </a:rPr>
              <a:t>Risk workshop · package assembly · final review · handover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6455" y="4206240"/>
            <a:ext cx="11338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8703A"/>
                </a:solidFill>
                <a:latin typeface="Arial"/>
              </a:rPr>
              <a:t>CP6 package review · CP7 formal acceptance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100" b="0" i="0">
                <a:solidFill>
                  <a:srgbClr val="1C3B42"/>
                </a:solidFill>
                <a:latin typeface="Arial"/>
              </a:rPr>
              <a:t>Cadence &amp; quality:   daily stand-up · weekly written status report (Fri) · bi-weekly steering committee · version control v0.x → v1.0 FINAL · peer review before every formal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GOVERNANCE &amp;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Co-Located With the Decision-Makers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Engagement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E8703A"/>
                </a:solidFill>
                <a:latin typeface="Arial"/>
              </a:rPr>
              <a:t>REPORTING LINE</a:t>
            </a:r>
          </a:p>
          <a:p>
            <a:pPr algn="l"/>
            <a:r>
              <a:rPr sz="1000" b="0" i="0">
                <a:solidFill>
                  <a:srgbClr val="1C3B42"/>
                </a:solidFill>
                <a:latin typeface="Arial"/>
              </a:rPr>
              <a:t>Digital Health Specialist, Last Mile Health — with close technical coordination with the Head, Systems Architecture &amp; Security Unit, MoH Digital Health Division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E8703A"/>
                </a:solidFill>
                <a:latin typeface="Arial"/>
              </a:rPr>
              <a:t>CADENCE</a:t>
            </a:r>
          </a:p>
          <a:p>
            <a:pPr algn="l"/>
            <a:r>
              <a:rPr sz="1000" b="0" i="0">
                <a:solidFill>
                  <a:srgbClr val="1C3B42"/>
                </a:solidFill>
                <a:latin typeface="Arial"/>
              </a:rPr>
              <a:t>Daily stand-up · weekly status report · bi-weekly steering 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06824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E8703A"/>
                </a:solidFill>
                <a:latin typeface="Arial"/>
              </a:rPr>
              <a:t>QUALITY</a:t>
            </a:r>
          </a:p>
          <a:p>
            <a:pPr algn="l"/>
            <a:r>
              <a:rPr sz="1000" b="0" i="0">
                <a:solidFill>
                  <a:srgbClr val="1C3B42"/>
                </a:solidFill>
                <a:latin typeface="Arial"/>
              </a:rPr>
              <a:t>Seven checkpoints (CP1–CP7) with go/no-go criteria; traceability from requirements → architecture → roadmap → cost →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94376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E8703A"/>
                </a:solidFill>
                <a:latin typeface="Arial"/>
              </a:rPr>
              <a:t>CHANGE CONTROL</a:t>
            </a:r>
          </a:p>
          <a:p>
            <a:pPr algn="l"/>
            <a:r>
              <a:rPr sz="1000" b="0" i="0">
                <a:solidFill>
                  <a:srgbClr val="1C3B42"/>
                </a:solidFill>
                <a:latin typeface="Arial"/>
              </a:rPr>
              <a:t>Scope changes only through steering-committee impact assessment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737360"/>
            <a:ext cx="574243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901952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Stakeholders engaged weekly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317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0" i="0">
                <a:solidFill>
                  <a:srgbClr val="1C3B42"/>
                </a:solidFill>
                <a:latin typeface="Arial"/>
              </a:rPr>
              <a:t>MoH Digital Health Division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23317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0" i="0">
                <a:solidFill>
                  <a:srgbClr val="1C3B42"/>
                </a:solidFill>
                <a:latin typeface="Arial"/>
              </a:rPr>
              <a:t>Reproductive Health Unit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2461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0" i="0">
                <a:solidFill>
                  <a:srgbClr val="1C3B42"/>
                </a:solidFill>
                <a:latin typeface="Arial"/>
              </a:rPr>
              <a:t>District DHMTs (pilot districts)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32461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0" i="0">
                <a:solidFill>
                  <a:srgbClr val="1C3B42"/>
                </a:solidFill>
                <a:latin typeface="Arial"/>
              </a:rPr>
              <a:t>HSAs &amp; CHWs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1605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0" i="0">
                <a:solidFill>
                  <a:srgbClr val="1C3B42"/>
                </a:solidFill>
                <a:latin typeface="Arial"/>
              </a:rPr>
              <a:t>Development partners — Global Fund, USAID, Gavi, UNICEF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41605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0" i="0">
                <a:solidFill>
                  <a:srgbClr val="1C3B42"/>
                </a:solidFill>
                <a:latin typeface="Arial"/>
              </a:rPr>
              <a:t>System vendors — iCHIS (Baobab) &amp; MaHIS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5074920"/>
            <a:ext cx="2560320" cy="77724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950" b="0" i="0">
                <a:solidFill>
                  <a:srgbClr val="1C3B42"/>
                </a:solidFill>
                <a:latin typeface="Arial"/>
              </a:rPr>
              <a:t>LMH country &amp; technical teams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Named Risks, Owned Mitigations — Reviewed Weekly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MoH staff availability constrained by competing priorities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911095"/>
            <a:ext cx="1371600" cy="329184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10512"/>
            <a:ext cx="4526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Pre-booked calendars; sponsor escalation; flexible scheduling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05456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78608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Vendor API access or sandbox delayed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679191"/>
            <a:ext cx="1371600" cy="329184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MED–HIGH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78608"/>
            <a:ext cx="4526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Early MoH directive to vendors; contractual clauses; file-exchange fallback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73552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46704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Scope creep beyond the MNH integration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3447288"/>
            <a:ext cx="1371600" cy="329184"/>
          </a:xfrm>
          <a:prstGeom prst="rect">
            <a:avLst/>
          </a:prstGeom>
          <a:solidFill>
            <a:srgbClr val="1B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346704"/>
            <a:ext cx="4526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Inception baseline; formal change-control 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41648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Donor funding misaligned with phased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215384"/>
            <a:ext cx="1371600" cy="329184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MED–HIGH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114800"/>
            <a:ext cx="4526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Donor mapping in Week 6; modular phasing enables partial funding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9744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82896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Existing data quality undermines integration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4983480"/>
            <a:ext cx="1371600" cy="329184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882896"/>
            <a:ext cx="4526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Data-quality assessment in discovery; cleansing sprint budgeted in Phase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77840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650992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Security/compliance gaps block future deployment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5751576"/>
            <a:ext cx="1371600" cy="329184"/>
          </a:xfrm>
          <a:prstGeom prst="rect">
            <a:avLst/>
          </a:prstGeom>
          <a:solidFill>
            <a:srgbClr val="5A6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LOW × 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650992"/>
            <a:ext cx="4526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B6E"/>
                </a:solidFill>
                <a:latin typeface="Arial"/>
              </a:rPr>
              <a:t>Early MoH ICT security review; privacy-by-design; DPA templates ready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INVESTMENT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Transparent Fees, Realistic Reimbursables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Professional fees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C3B42"/>
                </a:solidFill>
                <a:latin typeface="Arial"/>
              </a:rPr>
              <a:t>USD 3,500 per month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C3B42"/>
                </a:solidFill>
                <a:latin typeface="Arial"/>
              </a:rPr>
              <a:t>Within the advertised USD 3,000–4,000 band.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C3B42"/>
                </a:solidFill>
                <a:latin typeface="Arial"/>
              </a:rPr>
              <a:t>≈ USD 5,400 total professional fees across the 6.5-week engagement.</a:t>
            </a:r>
          </a:p>
          <a:p>
            <a:pPr algn="l"/>
            <a:r>
              <a:rPr sz="950" b="0" i="1">
                <a:solidFill>
                  <a:srgbClr val="5A6B6E"/>
                </a:solidFill>
                <a:latin typeface="Arial"/>
              </a:rPr>
              <a:t>Excludes withholding taxes per applicable law.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737360"/>
            <a:ext cx="574243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901952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Indicative reimbursables (USD)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317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Local travel — 2 district visits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3317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1C3B42"/>
                </a:solidFill>
                <a:latin typeface="Arial"/>
              </a:rPr>
              <a:t>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7157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Workshops (venue, refreshments ×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715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1C3B42"/>
                </a:solidFill>
                <a:latin typeface="Arial"/>
              </a:rPr>
              <a:t>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99815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Communications / internet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09981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1C3B42"/>
                </a:solidFill>
                <a:latin typeface="Arial"/>
              </a:rPr>
              <a:t>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483863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Printing &amp; stationery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483863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1C3B42"/>
                </a:solidFill>
                <a:latin typeface="Arial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67911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3B42"/>
                </a:solidFill>
                <a:latin typeface="Arial"/>
              </a:rPr>
              <a:t>Contingency (~10%)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867911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1C3B42"/>
                </a:solidFill>
                <a:latin typeface="Arial"/>
              </a:rPr>
              <a:t>635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270247"/>
            <a:ext cx="5303520" cy="18288"/>
          </a:xfrm>
          <a:prstGeom prst="rect">
            <a:avLst/>
          </a:prstGeom>
          <a:solidFill>
            <a:srgbClr val="D9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36168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E5A66"/>
                </a:solidFill>
                <a:latin typeface="Arial"/>
              </a:rPr>
              <a:t>Total estimated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36168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03A"/>
                </a:solidFill>
                <a:latin typeface="Arial"/>
              </a:rPr>
              <a:t>6,985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1091672" cy="868680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One roadmap, multiple funding doors — formatted for Global Fund RSSH, USAID Digital Health, Gavi HSS and World Bank concept notes.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QUALIFICATIONS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Built for This Exact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92807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830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Progressive LMIC experience designing and costing digital-health system integrations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679192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Hands-on with national HIS platforms — DHIS2, OpenMRS, CommCare/ODK, iCHIS-class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85032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575304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Working command of interoperability standards — HL7 FHIR, OpenHIE, API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81144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471416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Data-governance track record — data-sharing agreements, privacy and security compliance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892807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Costing prepared for Global Fund, USAID, Gavi and World Bank audiences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2788920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679192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Facilitated multi-stakeholder MoH consultations to consensus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685032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75304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Translates technical concepts for non-technical audiences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4581144"/>
            <a:ext cx="128016" cy="128016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471416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3B42"/>
                </a:solidFill>
                <a:latin typeface="Arial"/>
              </a:rPr>
              <a:t>Excellent English; based in Lilongwe for full-time co-location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1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E8703A"/>
                </a:solidFill>
                <a:latin typeface="Arial"/>
              </a:rPr>
              <a:t>Differentiator:  </a:t>
            </a:r>
            <a:r>
              <a:rPr sz="1200" b="0" i="0">
                <a:solidFill>
                  <a:srgbClr val="1C3B42"/>
                </a:solidFill>
                <a:latin typeface="Arial"/>
              </a:rPr>
              <a:t>familiarity with Malawi's digital-health ecosystem and Ministry of Health digital-health priorities.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8703A"/>
                </a:solidFill>
                <a:latin typeface="Arial"/>
              </a:rP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B42"/>
                </a:solidFill>
                <a:latin typeface="Arial"/>
              </a:rPr>
              <a:t>Handover Is the Deliverable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0" cy="32004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6528816"/>
            <a:ext cx="2862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A6B6E"/>
                </a:solidFill>
                <a:latin typeface="Arial"/>
              </a:rPr>
              <a:t>Digital Health Consultant Proposal ·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40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Handover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Editable sources — Word, Excel, PowerPoint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62072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Costing model with assumptions tab (unlocked)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Living risk register with owners and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22775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OpenAPI specs and data-mapping matrices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53127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Decision register and meeting 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737360"/>
            <a:ext cx="5440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01952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5A66"/>
                </a:solidFill>
                <a:latin typeface="Arial"/>
              </a:rPr>
              <a:t>Mechanisms that outlast the consultancy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3172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MoH ownership board — quarterly steering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862072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Technical working group — monthly coordination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392424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Recurrent budget-absorption tracking (Phase 1 onward)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922775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Vendor SLAs embedded in Phase-1 contracts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453127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8703A"/>
                </a:solidFill>
                <a:latin typeface="Arial"/>
              </a:rPr>
              <a:t>✓  </a:t>
            </a:r>
            <a:r>
              <a:rPr sz="1050" b="0" i="0">
                <a:solidFill>
                  <a:srgbClr val="1C3B42"/>
                </a:solidFill>
                <a:latin typeface="Arial"/>
              </a:rPr>
              <a:t>Annual roadmap review and refresh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11091672" cy="73152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1" i="0">
                <a:solidFill>
                  <a:srgbClr val="E8703A"/>
                </a:solidFill>
                <a:latin typeface="Arial"/>
              </a:rPr>
              <a:t>Success test:  </a:t>
            </a:r>
            <a:r>
              <a:rPr sz="1200" b="0" i="1">
                <a:solidFill>
                  <a:srgbClr val="1C3B42"/>
                </a:solidFill>
                <a:latin typeface="Arial"/>
              </a:rPr>
              <a:t>the MoH lead can present the roadmap accurately — without the consultant in the room.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03A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Ready to Start Within Days of Signature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514600"/>
            <a:ext cx="457200" cy="457200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6032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Approve proposal and countersign the engagement letter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383280"/>
            <a:ext cx="457200" cy="457200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42900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Confirm MoH workspace access, badging and stakeholder calendars (Week −1)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251960"/>
            <a:ext cx="457200" cy="457200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29768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Kick-off meeting with LMH and the MoH Digital Health Division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5120640"/>
            <a:ext cx="457200" cy="457200"/>
          </a:xfrm>
          <a:prstGeom prst="ellipse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5166359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First deliverable draft — Inception Report — by end of Week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5989320"/>
            <a:ext cx="3291840" cy="27432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617220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7F5F0"/>
                </a:solidFill>
                <a:latin typeface="Arial"/>
              </a:rPr>
              <a:t>[Consultant Name] · Lilongwe, Malawi · [email address]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