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VillageReach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CHOICE Project – USSD Health Messaging Consultant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E6F4F1"/>
                </a:solidFill>
                <a:latin typeface="Calibri"/>
              </a:rPr>
              <a:t>Financial Proposal &amp; Technical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Prepared by Light Speed Holdings  | 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E6F4F1"/>
                </a:solidFill>
                <a:latin typeface="Calibri"/>
              </a:rPr>
              <a:t>Malawi  ·  Nairobi  ·  Washington 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94360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1">
                <a:solidFill>
                  <a:srgbClr val="E84D4D"/>
                </a:solidFill>
                <a:latin typeface="Calibri"/>
              </a:rPr>
              <a:t>Confidential – For VillageReach Evaluation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640080" cy="5029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1732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01820"/>
                </a:solidFill>
                <a:latin typeface="Calibri"/>
              </a:rPr>
              <a:t>Executive Summary &amp; Value Proposition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640080" cy="5029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5740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01820"/>
                </a:solidFill>
                <a:latin typeface="Calibri"/>
              </a:rPr>
              <a:t>Understanding of 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51760"/>
            <a:ext cx="640080" cy="5029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9748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01820"/>
                </a:solidFill>
                <a:latin typeface="Calibri"/>
              </a:rPr>
              <a:t>Technical Approach &amp; USSD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291840"/>
            <a:ext cx="640080" cy="5029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3756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33756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01820"/>
                </a:solidFill>
                <a:latin typeface="Calibri"/>
              </a:rPr>
              <a:t>Team Composition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931920"/>
            <a:ext cx="640080" cy="5029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7764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97764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01820"/>
                </a:solidFill>
                <a:latin typeface="Calibri"/>
              </a:rPr>
              <a:t>Project Timeline &amp; Milestones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572000"/>
            <a:ext cx="640080" cy="5029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61772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61772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01820"/>
                </a:solidFill>
                <a:latin typeface="Calibri"/>
              </a:rPr>
              <a:t>Budget &amp; Financial Proposal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212080"/>
            <a:ext cx="640080" cy="5029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5780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5780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01820"/>
                </a:solidFill>
                <a:latin typeface="Calibri"/>
              </a:rPr>
              <a:t>Data Privacy &amp; Security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852160"/>
            <a:ext cx="640080" cy="5029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9788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89788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01820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6B6B"/>
                </a:solidFill>
                <a:latin typeface="Calibri"/>
              </a:rPr>
              <a:t>The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/>
            </a:r>
            <a:r>
              <a:rPr sz="1100" b="0" i="0">
                <a:solidFill>
                  <a:srgbClr val="101820"/>
                </a:solidFill>
                <a:latin typeface="Calibri"/>
              </a:rPr>
              <a:t>  •  USSD health messaging service on short code 54747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>  •  TNM and Airtel networks in Malawi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>  •  Chichewa-language content for women in Balaka &amp; Lilongwe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>  •  4-week technical setup + 24-month maintenance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>  •  CHOICE Project (Global Affairs Canada / Oxfam Canada)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371600"/>
            <a:ext cx="5303520" cy="4754880"/>
          </a:xfrm>
          <a:prstGeom prst="rect">
            <a:avLst/>
          </a:prstGeom>
          <a:solidFill>
            <a:srgbClr val="E6F4F1"/>
          </a:solidFill>
          <a:ln w="12700">
            <a:solidFill>
              <a:srgbClr val="BB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6B6B"/>
                </a:solidFill>
                <a:latin typeface="Calibri"/>
              </a:rPr>
              <a:t>Why Light Speed Holdings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75488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/>
            </a:r>
            <a:r>
              <a:rPr sz="1100" b="0" i="0">
                <a:solidFill>
                  <a:srgbClr val="101820"/>
                </a:solidFill>
                <a:latin typeface="Calibri"/>
              </a:rPr>
              <a:t>  •  Proven USSD &amp; mobile health deployments in Malawi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>  •  Full-stack team: developers, UX researchers, integration engineers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>  •  Local Malawi presence with international standards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>  •  Single accountable partner—no subcontracting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01820"/>
                </a:solidFill>
                <a:latin typeface="Calibri"/>
              </a:rPr>
              <a:t>  •  Value for money: milestone-based payments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Understanding of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6B6B"/>
                </a:solidFill>
                <a:latin typeface="Calibri"/>
              </a:rPr>
              <a:t>Core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6888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46888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C6B6B"/>
                </a:solidFill>
                <a:latin typeface="Calibri"/>
              </a:rPr>
              <a:t>USSD Menu Design &amp;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10312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Short code 54747 (TNM + Airtel)
Chichewa-language menus
≤182 chars/screen, ≤4 levels deep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46888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828800"/>
            <a:ext cx="246888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01168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C6B6B"/>
                </a:solidFill>
                <a:latin typeface="Calibri"/>
              </a:rPr>
              <a:t>User Acceptance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60320"/>
            <a:ext cx="210312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Minimum 20 participants
Balaka &amp; Lilongwe districts
Low-literacy user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828800"/>
            <a:ext cx="246888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828800"/>
            <a:ext cx="246888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01168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C6B6B"/>
                </a:solidFill>
                <a:latin typeface="Calibri"/>
              </a:rPr>
              <a:t>Data Pipeline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560320"/>
            <a:ext cx="210312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REST API to VillageReach systems
Monthly uptime &amp; usage reports
≥99% availability target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828800"/>
            <a:ext cx="246888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1828800"/>
            <a:ext cx="246888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01168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C6B6B"/>
                </a:solidFill>
                <a:latin typeface="Calibri"/>
              </a:rPr>
              <a:t>Training &amp; Handover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560320"/>
            <a:ext cx="210312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Documentation for VillageReach staff
24-month support commitment
Completion report at engagement 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Technical Approach – 4-Phase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475488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6F4F1"/>
                </a:solidFill>
                <a:latin typeface="Calibri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Discovery &amp;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E6F4F1"/>
                </a:solidFill>
                <a:latin typeface="Calibri"/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19456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Stakeholder interviews
Content architecture
Wireframe development
Technical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4754880"/>
          </a:xfrm>
          <a:prstGeom prst="rect">
            <a:avLst/>
          </a:prstGeom>
          <a:solidFill>
            <a:srgbClr val="0D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55448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6F4F1"/>
                </a:solidFill>
                <a:latin typeface="Calibri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920240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Build &amp;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46888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E6F4F1"/>
                </a:solidFill>
                <a:latin typeface="Calibri"/>
              </a:rPr>
              <a:t>Weeks 2–3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017520"/>
            <a:ext cx="219456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USSD application dev
REST API implementation
Internal QA
Performance testing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2560320" cy="475488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55448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6F4F1"/>
                </a:solidFill>
                <a:latin typeface="Calibri"/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UAT &amp;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E6F4F1"/>
                </a:solidFill>
                <a:latin typeface="Calibri"/>
              </a:rPr>
              <a:t>Week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17520"/>
            <a:ext cx="219456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UAT with 20+ users
Iterative refinement
Production deployment
Go-live monitoring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560320" cy="4754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55448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6F4F1"/>
                </a:solidFill>
                <a:latin typeface="Calibri"/>
              </a:rP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920240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Maintain &amp;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46888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E6F4F1"/>
                </a:solidFill>
                <a:latin typeface="Calibri"/>
              </a:rPr>
              <a:t>Months 2–24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017520"/>
            <a:ext cx="219456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Monthly reports
Content updates
Bug fixes &amp; optimization
Completion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USSD Menu Wireframe – Short Code 54747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286000" cy="4114800"/>
          </a:xfrm>
          <a:prstGeom prst="rect">
            <a:avLst/>
          </a:prstGeom>
          <a:solidFill>
            <a:srgbClr val="101820"/>
          </a:solidFill>
          <a:ln w="254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554480"/>
            <a:ext cx="2011680" cy="3474720"/>
          </a:xfrm>
          <a:prstGeom prst="rect">
            <a:avLst/>
          </a:prstGeom>
          <a:solidFill>
            <a:srgbClr val="00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0FF00"/>
                </a:solidFill>
                <a:latin typeface="Calibri"/>
              </a:rPr>
              <a:t>Main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18288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00FF00"/>
                </a:solidFill>
                <a:latin typeface="Calibri"/>
              </a:rPr>
              <a:t>Welcome to CHOICE
1. Thanzi la thanzi
2. Kukhala ndi moyo
3. Ubwenzi bwino
4. Zambiri
99. Main Menu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371600"/>
            <a:ext cx="2286000" cy="4114800"/>
          </a:xfrm>
          <a:prstGeom prst="rect">
            <a:avLst/>
          </a:prstGeom>
          <a:solidFill>
            <a:srgbClr val="101820"/>
          </a:solidFill>
          <a:ln w="254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3320" y="1554480"/>
            <a:ext cx="2011680" cy="3474720"/>
          </a:xfrm>
          <a:prstGeom prst="rect">
            <a:avLst/>
          </a:prstGeom>
          <a:solidFill>
            <a:srgbClr val="00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16459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0FF00"/>
                </a:solidFill>
                <a:latin typeface="Calibri"/>
              </a:rPr>
              <a:t>1. Thanzi la thanzi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011680"/>
            <a:ext cx="18288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00FF00"/>
                </a:solidFill>
                <a:latin typeface="Calibri"/>
              </a:rPr>
              <a:t>Thanzi la thanzi
1. Thanzi la amai
2. Thanzi la ana
3. Matenda osowa
4. Mphamvu ya chakudya
99. Main Menu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2286000" cy="4114800"/>
          </a:xfrm>
          <a:prstGeom prst="rect">
            <a:avLst/>
          </a:prstGeom>
          <a:solidFill>
            <a:srgbClr val="101820"/>
          </a:solidFill>
          <a:ln w="254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554480"/>
            <a:ext cx="2011680" cy="3474720"/>
          </a:xfrm>
          <a:prstGeom prst="rect">
            <a:avLst/>
          </a:prstGeom>
          <a:solidFill>
            <a:srgbClr val="00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459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0FF00"/>
                </a:solidFill>
                <a:latin typeface="Calibri"/>
              </a:rPr>
              <a:t>1.1 Thanzi la amai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11680"/>
            <a:ext cx="18288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00FF00"/>
                </a:solidFill>
                <a:latin typeface="Calibri"/>
              </a:rPr>
              <a:t>Kukhala ndi moyo wa thanzi:
• Kusamba pochapa
• Kudya zakudya zoyenera
• Kuchita masewera
99. Main Menu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20040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C6B6B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20040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C6B6B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1">
                <a:solidFill>
                  <a:srgbClr val="6B7080"/>
                </a:solidFill>
                <a:latin typeface="Calibri"/>
              </a:rPr>
              <a:t>All screens: ≤182 characters  |  Number-driven navigation  |  "99. Main Menu" on every screen  |  ≤4 levels deep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Team 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103120" cy="2377440"/>
          </a:xfrm>
          <a:prstGeom prst="rect">
            <a:avLst/>
          </a:prstGeom>
          <a:solidFill>
            <a:srgbClr val="E6F4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Consulting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Jack Mlusu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Project management
Malawi health sector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30%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280160"/>
            <a:ext cx="2103120" cy="2377440"/>
          </a:xfrm>
          <a:prstGeom prst="rect">
            <a:avLst/>
          </a:prstGeom>
          <a:solidFill>
            <a:srgbClr val="E6F4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128016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41732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Solution Architect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7373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Senior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10312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USSD gateway integrations
REST API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0040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25%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280160"/>
            <a:ext cx="2103120" cy="2377440"/>
          </a:xfrm>
          <a:prstGeom prst="rect">
            <a:avLst/>
          </a:prstGeom>
          <a:solidFill>
            <a:srgbClr val="E6F4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128016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141732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Mobile Developer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17373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USSD Specialist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10312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USSD app development
Chichewa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20040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280160"/>
            <a:ext cx="2103120" cy="2377440"/>
          </a:xfrm>
          <a:prstGeom prst="rect">
            <a:avLst/>
          </a:prstGeom>
          <a:solidFill>
            <a:srgbClr val="E6F4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0" y="128016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141732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Integration 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17373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API Specialist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10312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REST API pipelines
Data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20040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1280160"/>
            <a:ext cx="2103120" cy="2377440"/>
          </a:xfrm>
          <a:prstGeom prst="rect">
            <a:avLst/>
          </a:prstGeom>
          <a:solidFill>
            <a:srgbClr val="E6F4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92640" y="128016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141732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UX Research Lead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17373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Low-Literacy UX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10312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User research Malawi
Interface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20040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15%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31920"/>
            <a:ext cx="210312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93192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8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Data Privacy Officer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38912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Compliance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75488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GDPR/NDPR
Health data protection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8521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10%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3931920"/>
            <a:ext cx="210312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34640" y="393192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0" y="406908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QA Engineer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38912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Test Lead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475488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USSD testing
UAT coordination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58521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20%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3931920"/>
            <a:ext cx="210312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120640" y="393192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2080" y="406908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Financial Analyst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438912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Budget Lead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0" y="475488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NGO budgeting
USD/MWK forecasting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58521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3931920"/>
            <a:ext cx="210312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06640" y="393192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98080" y="406908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Document Designer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0" y="438912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Deliverables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80" y="475488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Reports &amp; documentation
Training materials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0" y="58521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10%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92640" y="3931920"/>
            <a:ext cx="210312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92640" y="3931920"/>
            <a:ext cx="2103120" cy="457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4080" y="406908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C6B6B"/>
                </a:solidFill>
                <a:latin typeface="Calibri"/>
              </a:rPr>
              <a:t>Business Developer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438912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B7080"/>
                </a:solidFill>
                <a:latin typeface="Calibri"/>
              </a:rPr>
              <a:t>Client Relations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84080" y="4754880"/>
            <a:ext cx="1920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01820"/>
                </a:solidFill>
                <a:latin typeface="Calibri"/>
              </a:rPr>
              <a:t>VillageReach management
Stakeholder coordination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85216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1C6B6B"/>
                </a:solidFill>
                <a:latin typeface="Calibri"/>
              </a:rPr>
              <a:t>Allocation: 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Timeline – 24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371600" cy="109728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6F4F1"/>
                </a:solidFill>
                <a:latin typeface="Calibri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Discovery &amp;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E6F4F1"/>
                </a:solidFill>
                <a:latin typeface="Calibri"/>
              </a:rPr>
              <a:t>Week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645920"/>
            <a:ext cx="2286000" cy="1097280"/>
          </a:xfrm>
          <a:prstGeom prst="rect">
            <a:avLst/>
          </a:prstGeom>
          <a:solidFill>
            <a:srgbClr val="0D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737360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6F4F1"/>
                </a:solidFill>
                <a:latin typeface="Calibri"/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011680"/>
            <a:ext cx="1920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Build &amp;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37744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E6F4F1"/>
                </a:solidFill>
                <a:latin typeface="Calibri"/>
              </a:rPr>
              <a:t>Weeks 2–3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645920"/>
            <a:ext cx="1371600" cy="109728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737360"/>
            <a:ext cx="1005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6F4F1"/>
                </a:solidFill>
                <a:latin typeface="Calibri"/>
              </a:rP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011680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UAT &amp;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377440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E6F4F1"/>
                </a:solidFill>
                <a:latin typeface="Calibri"/>
              </a:rPr>
              <a:t>Week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645920"/>
            <a:ext cx="502920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37360"/>
            <a:ext cx="4663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6F4F1"/>
                </a:solidFill>
                <a:latin typeface="Calibri"/>
              </a:rP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Maintain &amp;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77440"/>
            <a:ext cx="4663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E6F4F1"/>
                </a:solidFill>
                <a:latin typeface="Calibri"/>
              </a:rPr>
              <a:t>Months 2–24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6B6B"/>
                </a:solidFill>
                <a:latin typeface="Calibri"/>
              </a:rPr>
              <a:t>Key Milestones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657600"/>
            <a:ext cx="1737360" cy="1645920"/>
          </a:xfrm>
          <a:prstGeom prst="rect">
            <a:avLst/>
          </a:prstGeom>
          <a:solidFill>
            <a:srgbClr val="1C6B6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9476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Contract Signing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5196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Day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66344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E84D4D"/>
                </a:solidFill>
                <a:latin typeface="Calibri"/>
              </a:rPr>
              <a:t>40% payment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39" y="3657600"/>
            <a:ext cx="17373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79" y="379476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Wireframes Approved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79" y="425196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6B7080"/>
                </a:solidFill>
                <a:latin typeface="Calibri"/>
              </a:rPr>
              <a:t>End of Week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79" y="466344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6B708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59" y="3657600"/>
            <a:ext cx="17373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1999" y="379476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USSD Build Complete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1999" y="425196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6B7080"/>
                </a:solidFill>
                <a:latin typeface="Calibri"/>
              </a:rPr>
              <a:t>End of Week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1999" y="466344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6B7080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79" y="3657600"/>
            <a:ext cx="1737360" cy="1645920"/>
          </a:xfrm>
          <a:prstGeom prst="rect">
            <a:avLst/>
          </a:prstGeom>
          <a:solidFill>
            <a:srgbClr val="1C6B6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19" y="379476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Go-Live on 54747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19" y="425196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End of Week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19" y="466344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E84D4D"/>
                </a:solidFill>
                <a:latin typeface="Calibri"/>
              </a:rPr>
              <a:t>20% payment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657600"/>
            <a:ext cx="17373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79476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Monthly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25196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6B7080"/>
                </a:solidFill>
                <a:latin typeface="Calibri"/>
              </a:rPr>
              <a:t>Months 1–24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66344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E84D4D"/>
                </a:solidFill>
                <a:latin typeface="Calibri"/>
              </a:rPr>
              <a:t>40% in monthly installments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04120" y="3657600"/>
            <a:ext cx="17373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95560" y="379476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Engagement Complete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425196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6B7080"/>
                </a:solidFill>
                <a:latin typeface="Calibri"/>
              </a:rPr>
              <a:t>Month 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5560" y="466344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6B7080"/>
                </a:solidFill>
                <a:latin typeface="Calibri"/>
              </a:rPr>
              <a:t>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Budget &amp; Financial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320040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E6F4F1"/>
                </a:solidFill>
                <a:latin typeface="Calibri"/>
              </a:rPr>
              <a:t>Phase 1: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926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$13,350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9260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E6F4F1"/>
                </a:solidFill>
                <a:latin typeface="Calibri"/>
              </a:rPr>
              <a:t>4 weeks
USSD design &amp; development
UAT &amp; launch
Documentation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474720" cy="3200400"/>
          </a:xfrm>
          <a:prstGeom prst="rect">
            <a:avLst/>
          </a:prstGeom>
          <a:solidFill>
            <a:srgbClr val="0D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55448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E6F4F1"/>
                </a:solidFill>
                <a:latin typeface="Calibri"/>
              </a:rPr>
              <a:t>Phase 2: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103120"/>
            <a:ext cx="2926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$25,633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926080"/>
            <a:ext cx="29260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E6F4F1"/>
                </a:solidFill>
                <a:latin typeface="Calibri"/>
              </a:rPr>
              <a:t>24 months
Monthly reporting
Content updates
Bug fixes &amp; optimization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474720" cy="3200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55448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E6F4F1"/>
                </a:solidFill>
                <a:latin typeface="Calibri"/>
              </a:rPr>
              <a:t>Reimbursables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03120"/>
            <a:ext cx="29260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$1,926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26080"/>
            <a:ext cx="29260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E6F4F1"/>
                </a:solidFill>
                <a:latin typeface="Calibri"/>
              </a:rPr>
              <a:t>Travel &amp; logistics
Testing SIMs
UAT participant incentives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E6F4F1"/>
                </a:solidFill>
                <a:latin typeface="Calibri"/>
              </a:rPr>
              <a:t>TOTAL ENGAGEMENT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846320"/>
            <a:ext cx="27432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E84D4D"/>
                </a:solidFill>
                <a:latin typeface="Calibri"/>
              </a:rPr>
              <a:t>$45,000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02920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6B7080"/>
                </a:solidFill>
                <a:latin typeface="Calibri"/>
              </a:rPr>
              <a:t>Incl. 10% contingency ($4,091)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57784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Payment: 40% signing | 20% go-live | 40% monthly  |  Effective rate: $1,875/month all-in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Payment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Payment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E6F4F1"/>
                </a:solidFill>
                <a:latin typeface="Calibri"/>
              </a:rPr>
              <a:t>Contract Signing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08760"/>
            <a:ext cx="1828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Day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0876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$18,000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50876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E6F4F1"/>
                </a:solidFill>
                <a:latin typeface="Calibri"/>
              </a:rPr>
              <a:t>40%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solidFill>
            <a:srgbClr val="0D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8892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Payment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E6F4F1"/>
                </a:solidFill>
                <a:latin typeface="Calibri"/>
              </a:rPr>
              <a:t>Go-Live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88920"/>
            <a:ext cx="1828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End of Week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78892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$9,000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78892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E6F4F1"/>
                </a:solidFill>
                <a:latin typeface="Calibri"/>
              </a:rPr>
              <a:t>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690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Payments 3–26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805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E6F4F1"/>
                </a:solidFill>
                <a:latin typeface="Calibri"/>
              </a:rPr>
              <a:t>Monthly Maintenance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069080"/>
            <a:ext cx="1828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Months 1–24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06908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$750/mo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06908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E6F4F1"/>
                </a:solidFill>
                <a:latin typeface="Calibri"/>
              </a:rPr>
              <a:t>40% (× 24)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Privacy &amp;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54864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C6B6B"/>
                </a:solidFill>
                <a:latin typeface="Calibri"/>
              </a:rPr>
              <a:t>Data Minimization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01820"/>
                </a:solidFill>
                <a:latin typeface="Calibri"/>
              </a:rPr>
              <a:t>USSD collects only minimum required data; no PII stored unless authorized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4747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474720" cy="54864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5544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C6B6B"/>
                </a:solidFill>
                <a:latin typeface="Calibri"/>
              </a:rPr>
              <a:t>Encryption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01168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01820"/>
                </a:solidFill>
                <a:latin typeface="Calibri"/>
              </a:rPr>
              <a:t>TLS 1.3 in transit; AES-256 at rest; OAuth 2.0 API authentication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4747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54864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5448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C6B6B"/>
                </a:solidFill>
                <a:latin typeface="Calibri"/>
              </a:rPr>
              <a:t>Access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1168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01820"/>
                </a:solidFill>
                <a:latin typeface="Calibri"/>
              </a:rPr>
              <a:t>Role-based access (RBAC); principle of least privilege enforced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34747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3474720" cy="54864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C6B6B"/>
                </a:solidFill>
                <a:latin typeface="Calibri"/>
              </a:rPr>
              <a:t>Audit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01820"/>
                </a:solidFill>
                <a:latin typeface="Calibri"/>
              </a:rPr>
              <a:t>Complete audit trail; 12-month log retention per VillageReach policy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3931920"/>
            <a:ext cx="34747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59" y="3931920"/>
            <a:ext cx="3474720" cy="54864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39" y="411480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C6B6B"/>
                </a:solidFill>
                <a:latin typeface="Calibri"/>
              </a:rPr>
              <a:t>Incident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39" y="457200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01820"/>
                </a:solidFill>
                <a:latin typeface="Calibri"/>
              </a:rPr>
              <a:t>24-hour breach notification; documented response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931920"/>
            <a:ext cx="34747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474720" cy="54864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11480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C6B6B"/>
                </a:solidFill>
                <a:latin typeface="Calibri"/>
              </a:rPr>
              <a:t>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57200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01820"/>
                </a:solidFill>
                <a:latin typeface="Calibri"/>
              </a:rPr>
              <a:t>Malawi Data Protection Act (2024); GDPR best practices; VillageReach governance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Risk Register &amp;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274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325880"/>
            <a:ext cx="1097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Likelihood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32588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1069848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73152" cy="68580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5740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USSD Gateway Downtime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05740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057400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5740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Dual-network redundancy; proactive monitoring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97480"/>
            <a:ext cx="10698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697480"/>
            <a:ext cx="73152" cy="6858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83464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Low UAT Participation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83464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834640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83464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Pre-recruit 30 participants; airtime incentives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1069848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474720"/>
            <a:ext cx="73152" cy="6858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61188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Chichewa Content Ambiguity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61188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611880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61188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Local language specialist; community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251960"/>
            <a:ext cx="10698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251960"/>
            <a:ext cx="73152" cy="68580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38912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Data Pipeline Delays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38912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389120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38912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API-first design; mock endpoints; integration testing Week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029200"/>
            <a:ext cx="1069848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5029200"/>
            <a:ext cx="73152" cy="6858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16636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Scope Creep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16636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166360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16636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Change request process; MWK 60,000/hr out-of-scope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5806440"/>
            <a:ext cx="73152" cy="68580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94360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01820"/>
                </a:solidFill>
                <a:latin typeface="Calibri"/>
              </a:rPr>
              <a:t>Key Personnel Unavailability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594360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5943600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01820"/>
                </a:solidFill>
                <a:latin typeface="Calibri"/>
              </a:rPr>
              <a:t>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94360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101820"/>
                </a:solidFill>
                <a:latin typeface="Calibri"/>
              </a:rPr>
              <a:t>Cross-trained team; documented handover; 48-hr coverage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Terms &amp;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6B6B"/>
                </a:solidFill>
                <a:latin typeface="Calibri"/>
              </a:rPr>
              <a:t>Payment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1089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/>
            </a:r>
            <a:r>
              <a:rPr sz="1000" b="0" i="0">
                <a:solidFill>
                  <a:srgbClr val="101820"/>
                </a:solidFill>
                <a:latin typeface="Calibri"/>
              </a:rPr>
              <a:t>  •  Currency: USD (MWK equivalent at prevailing rate)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>  •  Schedule: 40% signing → 20% go-live → 40% monthly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>  •  Payment window: Net 30 days from invoice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>  •  Invoicing: Monthly with time sheets &amp; completion certs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47472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47472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5544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6B6B"/>
                </a:solidFill>
                <a:latin typeface="Calibri"/>
              </a:rPr>
              <a:t>Intellectual Property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103120"/>
            <a:ext cx="31089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/>
            </a:r>
            <a:r>
              <a:rPr sz="1000" b="0" i="0">
                <a:solidFill>
                  <a:srgbClr val="101820"/>
                </a:solidFill>
                <a:latin typeface="Calibri"/>
              </a:rPr>
              <a:t>  •  All code &amp; documentation become VillageReach property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>  •  LSH retains proprietary framework rights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>  •  Open-source components under their respective licenses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47472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544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6B6B"/>
                </a:solidFill>
                <a:latin typeface="Calibri"/>
              </a:rPr>
              <a:t>Confidentiality &amp; Termination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03120"/>
            <a:ext cx="31089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/>
            </a:r>
            <a:r>
              <a:rPr sz="1000" b="0" i="0">
                <a:solidFill>
                  <a:srgbClr val="101820"/>
                </a:solidFill>
                <a:latin typeface="Calibri"/>
              </a:rPr>
              <a:t>  •  All project data treated as strictly confidential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>  •  30-day written notice for termination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01820"/>
                </a:solidFill>
                <a:latin typeface="Calibri"/>
              </a:rPr>
              <a:t>  •  Completed work delivered upon termination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1">
                <a:solidFill>
                  <a:srgbClr val="6B7080"/>
                </a:solidFill>
                <a:latin typeface="Calibri"/>
              </a:rPr>
              <a:t>This proposal is valid for 30 days from date of submission.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731520" cy="7315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731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41732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1820"/>
                </a:solidFill>
                <a:latin typeface="Calibri"/>
              </a:rPr>
              <a:t>Proposal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2880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6B7080"/>
                </a:solidFill>
                <a:latin typeface="Calibri"/>
              </a:rPr>
              <a:t>VillageReach evaluates technical approach and financial proposal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2148840"/>
            <a:ext cx="54864" cy="502920"/>
          </a:xfrm>
          <a:prstGeom prst="rect">
            <a:avLst/>
          </a:prstGeom>
          <a:solidFill>
            <a:srgbClr val="E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2651760"/>
            <a:ext cx="731520" cy="7315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731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69748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1820"/>
                </a:solidFill>
                <a:latin typeface="Calibri"/>
              </a:rPr>
              <a:t>Clarification Meeting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10896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6B7080"/>
                </a:solidFill>
                <a:latin typeface="Calibri"/>
              </a:rPr>
              <a:t>Address questions; align on scope, timeline, and expectations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3429000"/>
            <a:ext cx="54864" cy="502920"/>
          </a:xfrm>
          <a:prstGeom prst="rect">
            <a:avLst/>
          </a:prstGeom>
          <a:solidFill>
            <a:srgbClr val="E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3931920"/>
            <a:ext cx="731520" cy="7315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731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9776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1820"/>
                </a:solidFill>
                <a:latin typeface="Calibri"/>
              </a:rPr>
              <a:t>Contract Negotiation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38912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6B7080"/>
                </a:solidFill>
                <a:latin typeface="Calibri"/>
              </a:rPr>
              <a:t>Finalize terms, payment schedule, and NDA execution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40" y="4709160"/>
            <a:ext cx="54864" cy="502920"/>
          </a:xfrm>
          <a:prstGeom prst="rect">
            <a:avLst/>
          </a:prstGeom>
          <a:solidFill>
            <a:srgbClr val="E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5212079"/>
            <a:ext cx="731520" cy="73152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5303519"/>
            <a:ext cx="731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257799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1820"/>
                </a:solidFill>
                <a:latin typeface="Calibri"/>
              </a:rPr>
              <a:t>Kick-Off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669279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6B7080"/>
                </a:solidFill>
                <a:latin typeface="Calibri"/>
              </a:rPr>
              <a:t>Phase 1 begins: stakeholder interviews and wireframe development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E6F4F1"/>
                </a:solidFill>
                <a:latin typeface="Calibri"/>
              </a:rPr>
              <a:t>Light Speed Holdings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Committed to the success of the CHOICE Project
and the communities it serves.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E6F4F1"/>
                </a:solidFill>
                <a:latin typeface="Calibri"/>
              </a:rPr>
              <a:t>info@lightspeedholdings.com  |  lightspeedholdings.com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Malawi  ·  Nairobi  ·  Washington 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1">
                <a:solidFill>
                  <a:srgbClr val="E84D4D"/>
                </a:solidFill>
                <a:latin typeface="Calibri"/>
              </a:rPr>
              <a:t>Confidential – Prepared for VillageReach CHOICE Project Evaluation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Last updated: 2026-09-18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